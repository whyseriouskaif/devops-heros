
<file path=[Content_Types].xml><?xml version="1.0" encoding="utf-8"?>
<Types xmlns="http://schemas.openxmlformats.org/package/2006/content-types">
  <Default Extension="xml" ContentType="application/vnd.openxmlformats-package.core-properties+xml"/>
  <Default Extension="png" ContentType="image/png"/>
  <Default Extension="rels" ContentType="application/vnd.openxmlformats-package.relationships+xml"/>
  <Override PartName="/docProps/app.xml" ContentType="application/vnd.openxmlformats-officedocument.extended-properties+xml"/>
  <Override PartName="/ppt/presentation.xml" ContentType="application/vnd.openxmlformats-officedocument.presentationml.presentation.main+xml"/>
  <Override PartName="/ppt/theme/theme1.xml" ContentType="application/vnd.openxmlformats-officedocument.theme+xml"/>
  <Override PartName="/ppt/slideMasters/slideMaster1.xml" ContentType="application/vnd.openxmlformats-officedocument.presentationml.slideMaster+xml"/>
  <Override PartName="/ppt/slideMasters/theme/theme2.xml" ContentType="application/vnd.openxmlformats-officedocument.theme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notesMasters/notesMaster1.xml" ContentType="application/vnd.openxmlformats-officedocument.presentationml.notesMaster+xml"/>
  <Override PartName="/ppt/notesMasters/theme/theme3.xml" ContentType="application/vnd.openxmlformats-officedocument.theme+xml"/>
  <Override PartName="/ppt/presProps.xml" ContentType="application/vnd.openxmlformats-officedocument.presentationml.presProps+xml"/>
  <Override PartName="/ppt/tableStyles.xml" ContentType="application/vnd.openxmlformats-officedocument.presentationml.tableStyles+xml"/>
  <Override PartName="/ppt/slides/slide1.xml" ContentType="application/vnd.openxmlformats-officedocument.presentationml.slide+xml"/>
  <Override PartName="/ppt/notesSlides/notesSlide1.xml" ContentType="application/vnd.openxmlformats-officedocument.presentationml.notesSlide+xml"/>
  <Override PartName="/ppt/slides/slide2.xml" ContentType="application/vnd.openxmlformats-officedocument.presentationml.slide+xml"/>
  <Override PartName="/ppt/notesSlides/notesSlide2.xml" ContentType="application/vnd.openxmlformats-officedocument.presentationml.notesSlide+xml"/>
  <Override PartName="/ppt/slides/slide3.xml" ContentType="application/vnd.openxmlformats-officedocument.presentationml.slide+xml"/>
  <Override PartName="/ppt/notesSlides/notesSlide3.xml" ContentType="application/vnd.openxmlformats-officedocument.presentationml.notesSlide+xml"/>
  <Override PartName="/ppt/slides/slide4.xml" ContentType="application/vnd.openxmlformats-officedocument.presentationml.slide+xml"/>
  <Override PartName="/ppt/notesSlides/notesSlide4.xml" ContentType="application/vnd.openxmlformats-officedocument.presentationml.notesSlide+xml"/>
  <Override PartName="/ppt/slides/slide5.xml" ContentType="application/vnd.openxmlformats-officedocument.presentationml.slide+xml"/>
  <Override PartName="/ppt/notesSlides/notesSlide5.xml" ContentType="application/vnd.openxmlformats-officedocument.presentationml.notesSlide+xml"/>
  <Override PartName="/ppt/slides/slide6.xml" ContentType="application/vnd.openxmlformats-officedocument.presentationml.slide+xml"/>
  <Override PartName="/ppt/notesSlides/notesSlide6.xml" ContentType="application/vnd.openxmlformats-officedocument.presentationml.notesSlide+xml"/>
  <Override PartName="/ppt/slides/slide7.xml" ContentType="application/vnd.openxmlformats-officedocument.presentationml.slide+xml"/>
  <Override PartName="/ppt/notesSlides/notesSlide7.xml" ContentType="application/vnd.openxmlformats-officedocument.presentationml.notesSlide+xml"/>
  <Override PartName="/ppt/slides/slide8.xml" ContentType="application/vnd.openxmlformats-officedocument.presentationml.slide+xml"/>
  <Override PartName="/ppt/notesSlides/notesSlide8.xml" ContentType="application/vnd.openxmlformats-officedocument.presentationml.notesSlide+xml"/>
  <Override PartName="/ppt/slides/slide9.xml" ContentType="application/vnd.openxmlformats-officedocument.presentationml.slide+xml"/>
  <Override PartName="/ppt/notesSlides/notesSlide9.xml" ContentType="application/vnd.openxmlformats-officedocument.presentationml.notesSlide+xml"/>
</Types>
</file>

<file path=_rels/.rels>&#65279;<?xml version="1.0" encoding="utf-8"?><Relationships xmlns="http://schemas.openxmlformats.org/package/2006/relationships"><Relationship Type="http://schemas.openxmlformats.org/package/2006/relationships/metadata/core-properties" Target="/docProps/core.xml" Id="R98d9ea253a9b4831" /><Relationship Type="http://schemas.openxmlformats.org/officeDocument/2006/relationships/extended-properties" Target="/docProps/app.xml" Id="R624ed2853cf44c87" /><Relationship Type="http://schemas.openxmlformats.org/officeDocument/2006/relationships/officeDocument" Target="/ppt/presentation.xml" Id="Ra471b09dd7f34bae" /></Relationships>
</file>

<file path=ppt/presentation.xml><?xml version="1.0" encoding="utf-8"?>
<p:presentation xmlns:p="http://schemas.openxmlformats.org/presentationml/2006/main">
  <p:sldMasterIdLst>
    <p:sldMasterId xmlns:r="http://schemas.openxmlformats.org/officeDocument/2006/relationships" id="2147483648" r:id="R8fdc10bfde954df4"/>
  </p:sldMasterIdLst>
  <p:notesMasterIdLst>
    <p:notesMasterId xmlns:r="http://schemas.openxmlformats.org/officeDocument/2006/relationships" r:id="Rafb088d9e4094977"/>
  </p:notesMasterIdLst>
  <p:sldIdLst>
    <p:sldId xmlns:r="http://schemas.openxmlformats.org/officeDocument/2006/relationships" id="256" r:id="R4de322f4a193438f"/>
    <p:sldId xmlns:r="http://schemas.openxmlformats.org/officeDocument/2006/relationships" id="257" r:id="Rb8f0b65bb2a746c7"/>
    <p:sldId xmlns:r="http://schemas.openxmlformats.org/officeDocument/2006/relationships" id="258" r:id="R4a433c96c6084833"/>
    <p:sldId xmlns:r="http://schemas.openxmlformats.org/officeDocument/2006/relationships" id="259" r:id="Re1430006a2fc489a"/>
    <p:sldId xmlns:r="http://schemas.openxmlformats.org/officeDocument/2006/relationships" id="260" r:id="Rf0194ec1fa794be3"/>
    <p:sldId xmlns:r="http://schemas.openxmlformats.org/officeDocument/2006/relationships" id="261" r:id="Rc3ca798a56ff4d0a"/>
    <p:sldId xmlns:r="http://schemas.openxmlformats.org/officeDocument/2006/relationships" id="262" r:id="R9087c280355d4404"/>
    <p:sldId xmlns:r="http://schemas.openxmlformats.org/officeDocument/2006/relationships" id="263" r:id="Ra0b243a40a754cc1"/>
    <p:sldId xmlns:r="http://schemas.openxmlformats.org/officeDocument/2006/relationships" id="264" r:id="Rbb0a685af0aa40bc"/>
  </p:sldIdLst>
  <p:sldSz cx="12192000" cy="6858000"/>
  <p:notesSz cx="6858000" cy="9144000"/>
</p:presentation>
</file>

<file path=ppt/presProps.xml><?xml version="1.0" encoding="utf-8"?>
<p:presentationPr xmlns:p="http://schemas.openxmlformats.org/presentationml/2006/main">
  <p:extLst>
    <p:ext xmlns:p14="http://schemas.microsoft.com/office/powerpoint/2010/main" uri="{E76CE94A-603C-4142-B9EB-6D1370010A27}">
      <p14:discardImageEditData val="0"/>
    </p:ext>
    <p:ext xmlns:p14="http://schemas.microsoft.com/office/powerpoint/2010/main" uri="{D31A062A-798A-4329-ABDD-BBA856620510}">
      <p14:defaultImageDpi val="32767"/>
    </p:ext>
    <p:ext xmlns:p15="http://schemas.microsoft.com/office/powerpoint/2012/main" uri="{FD5EFAAD-0ECE-453E-9831-46B23BE46B34}">
      <p15:chartTrackingRefBased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_rels/presentation.xml.rels>&#65279;<?xml version="1.0" encoding="utf-8"?><Relationships xmlns="http://schemas.openxmlformats.org/package/2006/relationships"><Relationship Type="http://schemas.openxmlformats.org/officeDocument/2006/relationships/theme" Target="/ppt/theme/theme1.xml" Id="R8e7d51b11c554d99" /><Relationship Type="http://schemas.openxmlformats.org/officeDocument/2006/relationships/slideMaster" Target="/ppt/slideMasters/slideMaster1.xml" Id="R8fdc10bfde954df4" /><Relationship Type="http://schemas.openxmlformats.org/officeDocument/2006/relationships/notesMaster" Target="/ppt/notesMasters/notesMaster1.xml" Id="Rafb088d9e4094977" /><Relationship Type="http://schemas.openxmlformats.org/officeDocument/2006/relationships/presProps" Target="/ppt/presProps.xml" Id="Rcf58141b50f74297" /><Relationship Type="http://schemas.openxmlformats.org/officeDocument/2006/relationships/tableStyles" Target="/ppt/tableStyles.xml" Id="R72065c1bd2df4550" /><Relationship Type="http://schemas.openxmlformats.org/officeDocument/2006/relationships/slide" Target="/ppt/slides/slide1.xml" Id="R4de322f4a193438f" /><Relationship Type="http://schemas.openxmlformats.org/officeDocument/2006/relationships/slide" Target="/ppt/slides/slide2.xml" Id="Rb8f0b65bb2a746c7" /><Relationship Type="http://schemas.openxmlformats.org/officeDocument/2006/relationships/slide" Target="/ppt/slides/slide3.xml" Id="R4a433c96c6084833" /><Relationship Type="http://schemas.openxmlformats.org/officeDocument/2006/relationships/slide" Target="/ppt/slides/slide4.xml" Id="Re1430006a2fc489a" /><Relationship Type="http://schemas.openxmlformats.org/officeDocument/2006/relationships/slide" Target="/ppt/slides/slide5.xml" Id="Rf0194ec1fa794be3" /><Relationship Type="http://schemas.openxmlformats.org/officeDocument/2006/relationships/slide" Target="/ppt/slides/slide6.xml" Id="Rc3ca798a56ff4d0a" /><Relationship Type="http://schemas.openxmlformats.org/officeDocument/2006/relationships/slide" Target="/ppt/slides/slide7.xml" Id="R9087c280355d4404" /><Relationship Type="http://schemas.openxmlformats.org/officeDocument/2006/relationships/slide" Target="/ppt/slides/slide8.xml" Id="Ra0b243a40a754cc1" /><Relationship Type="http://schemas.openxmlformats.org/officeDocument/2006/relationships/slide" Target="/ppt/slides/slide9.xml" Id="Rbb0a685af0aa40bc" /></Relationships>
</file>

<file path=ppt/notesMasters/_rels/notesMaster1.xml.rels>&#65279;<?xml version="1.0" encoding="utf-8"?><Relationships xmlns="http://schemas.openxmlformats.org/package/2006/relationships"><Relationship Type="http://schemas.openxmlformats.org/officeDocument/2006/relationships/theme" Target="/ppt/notesMasters/theme/theme3.xml" Id="Rbc8d4ecf3f7046ca" /></Relationships>
</file>

<file path=ppt/notesMasters/notesMaster1.xml><?xml version="1.0" encoding="utf-8"?>
<p:notesMaster xmlns:p="http://schemas.openxmlformats.org/presentationml/2006/main">
  <p:cSld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Header Placeholder"/>
          <p:cNvSpPr/>
          <p:nvPr>
            <p:ph type="hdr" sz="quarter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" name="Date Placeholder"/>
          <p:cNvSpPr/>
          <p:nvPr>
            <p:ph type="dt" sz="quarter" idx="1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Image Placeholder"/>
          <p:cNvSpPr/>
          <p:nvPr>
            <p:ph type="sldImg" idx="2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5" name="Notes Placeholder"/>
          <p:cNvSpPr/>
          <p:nvPr>
            <p:ph type="body" sz="quarter" idx="3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6" name="Footer Placeholder"/>
          <p:cNvSpPr/>
          <p:nvPr>
            <p:ph type="ftr" sz="quarter" idx="4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7" name="Slide Number Placeholder"/>
          <p:cNvSpPr/>
          <p:nvPr>
            <p:ph type="sldNum" sz="quarter" idx="5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xmlns:a="http://schemas.openxmlformats.org/drawingml/2006/main" marL="0" algn="l" defTabSz="914400" rtl="0" eaLnBrk="1" latinLnBrk="0" hangingPunct="1">
      <a:defRPr sz="1200" kern="1200"/>
    </a:lvl1pPr>
  </p:notesStyle>
</p:notesMaster>
</file>

<file path=ppt/notesMasters/theme/theme3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">
      <a:majorFont>
        <a:latin typeface="Aptos"/>
        <a:ea typeface=""/>
        <a:cs typeface=""/>
      </a:majorFont>
      <a:minorFont>
        <a:latin typeface="Aptos"/>
        <a:ea typeface=""/>
        <a:cs typeface="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notesSlides/_rels/notesSlide1.xml.rels>&#65279;<?xml version="1.0" encoding="utf-8"?><Relationships xmlns="http://schemas.openxmlformats.org/package/2006/relationships"><Relationship Type="http://schemas.openxmlformats.org/officeDocument/2006/relationships/slide" Target="/ppt/slides/slide1.xml" Id="Rd077e4e98386491a" /><Relationship Type="http://schemas.openxmlformats.org/officeDocument/2006/relationships/notesMaster" Target="/ppt/notesMasters/notesMaster1.xml" Id="Re968f8998f464cb9" /></Relationships>
</file>

<file path=ppt/notesSlides/_rels/notesSlide2.xml.rels>&#65279;<?xml version="1.0" encoding="utf-8"?><Relationships xmlns="http://schemas.openxmlformats.org/package/2006/relationships"><Relationship Type="http://schemas.openxmlformats.org/officeDocument/2006/relationships/slide" Target="/ppt/slides/slide2.xml" Id="R523c6556d3a24201" /><Relationship Type="http://schemas.openxmlformats.org/officeDocument/2006/relationships/notesMaster" Target="/ppt/notesMasters/notesMaster1.xml" Id="Ra6eed99efb484a22" /></Relationships>
</file>

<file path=ppt/notesSlides/_rels/notesSlide3.xml.rels>&#65279;<?xml version="1.0" encoding="utf-8"?><Relationships xmlns="http://schemas.openxmlformats.org/package/2006/relationships"><Relationship Type="http://schemas.openxmlformats.org/officeDocument/2006/relationships/slide" Target="/ppt/slides/slide3.xml" Id="Rfac5cc24941144de" /><Relationship Type="http://schemas.openxmlformats.org/officeDocument/2006/relationships/notesMaster" Target="/ppt/notesMasters/notesMaster1.xml" Id="R704df31ad3b249d6" /></Relationships>
</file>

<file path=ppt/notesSlides/_rels/notesSlide4.xml.rels>&#65279;<?xml version="1.0" encoding="utf-8"?><Relationships xmlns="http://schemas.openxmlformats.org/package/2006/relationships"><Relationship Type="http://schemas.openxmlformats.org/officeDocument/2006/relationships/slide" Target="/ppt/slides/slide4.xml" Id="Re50b8fe32b5a4c2f" /><Relationship Type="http://schemas.openxmlformats.org/officeDocument/2006/relationships/notesMaster" Target="/ppt/notesMasters/notesMaster1.xml" Id="Rac10a68878534bf6" /></Relationships>
</file>

<file path=ppt/notesSlides/_rels/notesSlide5.xml.rels>&#65279;<?xml version="1.0" encoding="utf-8"?><Relationships xmlns="http://schemas.openxmlformats.org/package/2006/relationships"><Relationship Type="http://schemas.openxmlformats.org/officeDocument/2006/relationships/slide" Target="/ppt/slides/slide5.xml" Id="R03fd182288994531" /><Relationship Type="http://schemas.openxmlformats.org/officeDocument/2006/relationships/notesMaster" Target="/ppt/notesMasters/notesMaster1.xml" Id="Ra6a4e4d201c94ad2" /></Relationships>
</file>

<file path=ppt/notesSlides/_rels/notesSlide6.xml.rels>&#65279;<?xml version="1.0" encoding="utf-8"?><Relationships xmlns="http://schemas.openxmlformats.org/package/2006/relationships"><Relationship Type="http://schemas.openxmlformats.org/officeDocument/2006/relationships/slide" Target="/ppt/slides/slide6.xml" Id="R7d8caf906a134f1a" /><Relationship Type="http://schemas.openxmlformats.org/officeDocument/2006/relationships/notesMaster" Target="/ppt/notesMasters/notesMaster1.xml" Id="Rac77579db80b44c5" /></Relationships>
</file>

<file path=ppt/notesSlides/_rels/notesSlide7.xml.rels>&#65279;<?xml version="1.0" encoding="utf-8"?><Relationships xmlns="http://schemas.openxmlformats.org/package/2006/relationships"><Relationship Type="http://schemas.openxmlformats.org/officeDocument/2006/relationships/slide" Target="/ppt/slides/slide7.xml" Id="Rbd0e7a7199be42a5" /><Relationship Type="http://schemas.openxmlformats.org/officeDocument/2006/relationships/notesMaster" Target="/ppt/notesMasters/notesMaster1.xml" Id="R6c25c6bad0124b2a" /></Relationships>
</file>

<file path=ppt/notesSlides/_rels/notesSlide8.xml.rels>&#65279;<?xml version="1.0" encoding="utf-8"?><Relationships xmlns="http://schemas.openxmlformats.org/package/2006/relationships"><Relationship Type="http://schemas.openxmlformats.org/officeDocument/2006/relationships/slide" Target="/ppt/slides/slide8.xml" Id="R86b04b9aaa19411c" /><Relationship Type="http://schemas.openxmlformats.org/officeDocument/2006/relationships/notesMaster" Target="/ppt/notesMasters/notesMaster1.xml" Id="R432dd31489664c0a" /></Relationships>
</file>

<file path=ppt/notesSlides/_rels/notesSlide9.xml.rels>&#65279;<?xml version="1.0" encoding="utf-8"?><Relationships xmlns="http://schemas.openxmlformats.org/package/2006/relationships"><Relationship Type="http://schemas.openxmlformats.org/officeDocument/2006/relationships/slide" Target="/ppt/slides/slide9.xml" Id="R52408afbd0884843" /><Relationship Type="http://schemas.openxmlformats.org/officeDocument/2006/relationships/notesMaster" Target="/ppt/notesMasters/notesMaster1.xml" Id="R1a927e4623344e56" /></Relationships>
</file>

<file path=ppt/notesSlides/notesSlide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5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6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7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8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9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slideLayouts/_rels/slideLayout1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c9df4479abbf4121" /></Relationships>
</file>

<file path=ppt/slideLayouts/_rels/slideLayout2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a761acba51494ede" /></Relationships>
</file>

<file path=ppt/slideLayouts/_rels/slideLayout3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84b30bb4ab1f444e" /></Relationships>
</file>

<file path=ppt/slideLayouts/_rels/slideLayout4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aa6c44b7a69c4bee" /></Relationships>
</file>

<file path=ppt/slideLayouts/_rels/slideLayout5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34b1f614dfd54eaa" /></Relationships>
</file>

<file path=ppt/slideLayouts/_rels/slideLayout6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61b8f37d00da4026" /></Relationships>
</file>

<file path=ppt/slideLayouts/slideLayout1.xml><?xml version="1.0" encoding="utf-8"?>
<p:sldLayout xmlns:p="http://schemas.openxmlformats.org/presentationml/2006/main" type="title">
  <p:cSld name="Title Slide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" name="Title">
            <a:extLst xmlns:a="http://schemas.openxmlformats.org/drawingml/2006/main">
              <a:ext uri="{FF2B5EF4-FFF2-40B4-BE49-F238E27FC236}">
                <a16:creationId xmlns:a16="http://schemas.microsoft.com/office/drawing/2014/main" id="{3029361F-C2BA-4CAC-9E97-F36ED1258F30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1219200" y="2590800"/>
            <a:ext cx="9753600" cy="990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/>
          </a:bodyPr>
          <a:lstStyle xmlns:a="http://schemas.openxmlformats.org/drawingml/2006/main">
            <a:defPPr algn="ctr">
              <a:defRPr sz="48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defPPr>
            <a:lvl1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1pPr>
            <a:lvl2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2pPr>
            <a:lvl3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3pPr>
            <a:lvl4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4pPr>
            <a:lvl5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5pPr>
            <a:lvl6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6pPr>
            <a:lvl7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7pPr>
            <a:lvl8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8pPr>
            <a:lvl9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9pPr>
          </a:lstStyle>
          <a:p xmlns:a="http://schemas.openxmlformats.org/drawingml/2006/main"/>
        </p:txBody>
      </p:sp>
      <p:sp>
        <p:nvSpPr>
          <p:cNvPr id="2" name="Subtitle">
            <a:extLst xmlns:a="http://schemas.openxmlformats.org/drawingml/2006/main">
              <a:ext uri="{FF2B5EF4-FFF2-40B4-BE49-F238E27FC236}">
                <a16:creationId xmlns:a16="http://schemas.microsoft.com/office/drawing/2014/main" id="{B2A3BB68-8436-4D22-A923-13864807C7E7}"/>
              </a:ext>
            </a:extLst>
          </p:cNvPr>
          <p:cNvSpPr>
            <a:spLocks xmlns:a="http://schemas.openxmlformats.org/drawingml/2006/main" noGrp="1"/>
          </p:cNvSpPr>
          <p:nvPr>
            <p:ph type="subTitle" idx="1"/>
          </p:nvPr>
        </p:nvSpPr>
        <p:spPr>
          <a:xfrm xmlns:a="http://schemas.openxmlformats.org/drawingml/2006/main">
            <a:off x="1828800" y="3771900"/>
            <a:ext cx="8534400" cy="762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/>
          </a:bodyPr>
          <a:lstStyle xmlns:a="http://schemas.openxmlformats.org/drawingml/2006/main">
            <a:defPPr algn="ctr"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defPPr>
            <a:lvl1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1pPr>
            <a:lvl2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2pPr>
            <a:lvl3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3pPr>
            <a:lvl4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4pPr>
            <a:lvl5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5pPr>
            <a:lvl6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6pPr>
            <a:lvl7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7pPr>
            <a:lvl8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8pPr>
            <a:lvl9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9pPr>
          </a:lstStyle>
          <a:p xmlns:a="http://schemas.openxmlformats.org/drawingml/2006/main"/>
        </p:txBody>
      </p:sp>
    </p:spTree>
  </p:cSld>
</p:sldLayout>
</file>

<file path=ppt/slideLayouts/slideLayout2.xml><?xml version="1.0" encoding="utf-8"?>
<p:sldLayout xmlns:p="http://schemas.openxmlformats.org/presentationml/2006/main">
  <p:cSld name="Section Header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ection title">
            <a:extLst xmlns:a="http://schemas.openxmlformats.org/drawingml/2006/main">
              <a:ext uri="{FF2B5EF4-FFF2-40B4-BE49-F238E27FC236}">
                <a16:creationId xmlns:a16="http://schemas.microsoft.com/office/drawing/2014/main" id="{567CCDF1-7630-420B-958F-D5496E76E133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1219200" y="2857500"/>
            <a:ext cx="9753600" cy="1143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/>
          </a:bodyPr>
          <a:lstStyle xmlns:a="http://schemas.openxmlformats.org/drawingml/2006/main">
            <a:defPPr algn="ctr">
              <a:defRPr sz="42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defPPr>
            <a:lvl1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1pPr>
            <a:lvl2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2pPr>
            <a:lvl3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3pPr>
            <a:lvl4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4pPr>
            <a:lvl5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5pPr>
            <a:lvl6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6pPr>
            <a:lvl7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7pPr>
            <a:lvl8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8pPr>
            <a:lvl9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9pPr>
          </a:lstStyle>
          <a:p xmlns:a="http://schemas.openxmlformats.org/drawingml/2006/main"/>
        </p:txBody>
      </p:sp>
    </p:spTree>
  </p:cSld>
</p:sldLayout>
</file>

<file path=ppt/slideLayouts/slideLayout3.xml><?xml version="1.0" encoding="utf-8"?>
<p:sldLayout xmlns:p="http://schemas.openxmlformats.org/presentationml/2006/main">
  <p:cSld name="Title and Body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" name="Title">
            <a:extLst xmlns:a="http://schemas.openxmlformats.org/drawingml/2006/main">
              <a:ext uri="{FF2B5EF4-FFF2-40B4-BE49-F238E27FC236}">
                <a16:creationId xmlns:a16="http://schemas.microsoft.com/office/drawing/2014/main" id="{CE9FA793-1C1F-4C80-9ECD-637033804372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685800" y="533400"/>
            <a:ext cx="10820400" cy="838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>
            <a:defPPr algn="l"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defPPr>
            <a:lvl1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1pPr>
            <a:lvl2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2pPr>
            <a:lvl3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3pPr>
            <a:lvl4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4pPr>
            <a:lvl5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5pPr>
            <a:lvl6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6pPr>
            <a:lvl7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7pPr>
            <a:lvl8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8pPr>
            <a:lvl9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9pPr>
          </a:lstStyle>
          <a:p xmlns:a="http://schemas.openxmlformats.org/drawingml/2006/main"/>
        </p:txBody>
      </p:sp>
      <p:sp>
        <p:nvSpPr>
          <p:cNvPr id="2" name="Body">
            <a:extLst xmlns:a="http://schemas.openxmlformats.org/drawingml/2006/main">
              <a:ext uri="{FF2B5EF4-FFF2-40B4-BE49-F238E27FC236}">
                <a16:creationId xmlns:a16="http://schemas.microsoft.com/office/drawing/2014/main" id="{DDD8B739-0F8D-4B68-809E-35F4620A5605}"/>
              </a:ext>
            </a:extLst>
          </p:cNvPr>
          <p:cNvSpPr>
            <a:spLocks xmlns:a="http://schemas.openxmlformats.org/drawingml/2006/main" noGrp="1"/>
          </p:cNvSpPr>
          <p:nvPr>
            <p:ph type="body" idx="1"/>
          </p:nvPr>
        </p:nvSpPr>
        <p:spPr>
          <a:xfrm xmlns:a="http://schemas.openxmlformats.org/drawingml/2006/main">
            <a:off x="685800" y="1905000"/>
            <a:ext cx="10820400" cy="426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>
            <a:defPPr algn="l"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defPPr>
            <a:lvl1pPr marL="2286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1pPr>
            <a:lvl2pPr marL="5334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2pPr>
            <a:lvl3pPr marL="8382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3pPr>
            <a:lvl4pPr marL="11430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4pPr>
            <a:lvl5pPr marL="14478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5pPr>
            <a:lvl6pPr marL="17526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6pPr>
            <a:lvl7pPr marL="20574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7pPr>
            <a:lvl8pPr marL="23622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8pPr>
            <a:lvl9pPr marL="26670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9pPr>
          </a:lstStyle>
          <a:p xmlns:a="http://schemas.openxmlformats.org/drawingml/2006/main"/>
        </p:txBody>
      </p:sp>
    </p:spTree>
  </p:cSld>
</p:sldLayout>
</file>

<file path=ppt/slideLayouts/slideLayout4.xml><?xml version="1.0" encoding="utf-8"?>
<p:sldLayout xmlns:p="http://schemas.openxmlformats.org/presentationml/2006/main">
  <p:cSld name="Title and Two Column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4" name="Title">
            <a:extLst xmlns:a="http://schemas.openxmlformats.org/drawingml/2006/main">
              <a:ext uri="{FF2B5EF4-FFF2-40B4-BE49-F238E27FC236}">
                <a16:creationId xmlns:a16="http://schemas.microsoft.com/office/drawing/2014/main" id="{9E3D2CBD-46AC-4A24-8571-68ADB209FD2B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685800" y="533400"/>
            <a:ext cx="10820400" cy="838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>
            <a:defPPr algn="l"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defPPr>
            <a:lvl1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1pPr>
            <a:lvl2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2pPr>
            <a:lvl3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3pPr>
            <a:lvl4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4pPr>
            <a:lvl5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5pPr>
            <a:lvl6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6pPr>
            <a:lvl7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7pPr>
            <a:lvl8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8pPr>
            <a:lvl9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9pPr>
          </a:lstStyle>
          <a:p xmlns:a="http://schemas.openxmlformats.org/drawingml/2006/main"/>
        </p:txBody>
      </p:sp>
      <p:sp>
        <p:nvSpPr>
          <p:cNvPr id="2" name="Left column">
            <a:extLst xmlns:a="http://schemas.openxmlformats.org/drawingml/2006/main">
              <a:ext uri="{FF2B5EF4-FFF2-40B4-BE49-F238E27FC236}">
                <a16:creationId xmlns:a16="http://schemas.microsoft.com/office/drawing/2014/main" id="{BC06F1A1-D663-4000-BBAC-1C9EACAEF80F}"/>
              </a:ext>
            </a:extLst>
          </p:cNvPr>
          <p:cNvSpPr>
            <a:spLocks xmlns:a="http://schemas.openxmlformats.org/drawingml/2006/main" noGrp="1"/>
          </p:cNvSpPr>
          <p:nvPr>
            <p:ph type="body" idx="1"/>
          </p:nvPr>
        </p:nvSpPr>
        <p:spPr>
          <a:xfrm xmlns:a="http://schemas.openxmlformats.org/drawingml/2006/main">
            <a:off x="685800" y="1905000"/>
            <a:ext cx="5029200" cy="426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>
            <a:defPPr algn="l"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defPPr>
            <a:lvl1pPr marL="2286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1pPr>
            <a:lvl2pPr marL="5334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2pPr>
            <a:lvl3pPr marL="8382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3pPr>
            <a:lvl4pPr marL="11430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4pPr>
            <a:lvl5pPr marL="14478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5pPr>
            <a:lvl6pPr marL="17526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6pPr>
            <a:lvl7pPr marL="20574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7pPr>
            <a:lvl8pPr marL="23622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8pPr>
            <a:lvl9pPr marL="26670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9pPr>
          </a:lstStyle>
          <a:p xmlns:a="http://schemas.openxmlformats.org/drawingml/2006/main"/>
        </p:txBody>
      </p:sp>
      <p:sp>
        <p:nvSpPr>
          <p:cNvPr id="3" name="Right column">
            <a:extLst xmlns:a="http://schemas.openxmlformats.org/drawingml/2006/main">
              <a:ext uri="{FF2B5EF4-FFF2-40B4-BE49-F238E27FC236}">
                <a16:creationId xmlns:a16="http://schemas.microsoft.com/office/drawing/2014/main" id="{C2275D1A-AFD1-4B3B-B123-FF345E63B446}"/>
              </a:ext>
            </a:extLst>
          </p:cNvPr>
          <p:cNvSpPr>
            <a:spLocks xmlns:a="http://schemas.openxmlformats.org/drawingml/2006/main" noGrp="1"/>
          </p:cNvSpPr>
          <p:nvPr>
            <p:ph type="body" idx="2"/>
          </p:nvPr>
        </p:nvSpPr>
        <p:spPr>
          <a:xfrm xmlns:a="http://schemas.openxmlformats.org/drawingml/2006/main">
            <a:off x="6477000" y="1905000"/>
            <a:ext cx="5029200" cy="426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>
            <a:defPPr algn="l"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defPPr>
            <a:lvl1pPr marL="2286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1pPr>
            <a:lvl2pPr marL="5334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2pPr>
            <a:lvl3pPr marL="8382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3pPr>
            <a:lvl4pPr marL="11430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4pPr>
            <a:lvl5pPr marL="14478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5pPr>
            <a:lvl6pPr marL="17526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6pPr>
            <a:lvl7pPr marL="20574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7pPr>
            <a:lvl8pPr marL="23622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8pPr>
            <a:lvl9pPr marL="26670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9pPr>
          </a:lstStyle>
          <a:p xmlns:a="http://schemas.openxmlformats.org/drawingml/2006/main"/>
        </p:txBody>
      </p:sp>
    </p:spTree>
  </p:cSld>
</p:sldLayout>
</file>

<file path=ppt/slideLayouts/slideLayout5.xml><?xml version="1.0" encoding="utf-8"?>
<p:sldLayout xmlns:p="http://schemas.openxmlformats.org/presentationml/2006/main">
  <p:cSld name="Title and One Column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" name="Title">
            <a:extLst xmlns:a="http://schemas.openxmlformats.org/drawingml/2006/main">
              <a:ext uri="{FF2B5EF4-FFF2-40B4-BE49-F238E27FC236}">
                <a16:creationId xmlns:a16="http://schemas.microsoft.com/office/drawing/2014/main" id="{0BAE3D76-2E62-4775-A626-CE23915613A6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685800" y="533400"/>
            <a:ext cx="10820400" cy="838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>
            <a:defPPr algn="l"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defPPr>
            <a:lvl1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1pPr>
            <a:lvl2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2pPr>
            <a:lvl3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3pPr>
            <a:lvl4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4pPr>
            <a:lvl5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5pPr>
            <a:lvl6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6pPr>
            <a:lvl7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7pPr>
            <a:lvl8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8pPr>
            <a:lvl9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9pPr>
          </a:lstStyle>
          <a:p xmlns:a="http://schemas.openxmlformats.org/drawingml/2006/main"/>
        </p:txBody>
      </p:sp>
      <p:sp>
        <p:nvSpPr>
          <p:cNvPr id="2" name="Left column">
            <a:extLst xmlns:a="http://schemas.openxmlformats.org/drawingml/2006/main">
              <a:ext uri="{FF2B5EF4-FFF2-40B4-BE49-F238E27FC236}">
                <a16:creationId xmlns:a16="http://schemas.microsoft.com/office/drawing/2014/main" id="{048AA797-042D-4174-9EA1-5AE1289EFAEF}"/>
              </a:ext>
            </a:extLst>
          </p:cNvPr>
          <p:cNvSpPr>
            <a:spLocks xmlns:a="http://schemas.openxmlformats.org/drawingml/2006/main" noGrp="1"/>
          </p:cNvSpPr>
          <p:nvPr>
            <p:ph type="body" idx="1"/>
          </p:nvPr>
        </p:nvSpPr>
        <p:spPr>
          <a:xfrm xmlns:a="http://schemas.openxmlformats.org/drawingml/2006/main">
            <a:off x="685800" y="1905000"/>
            <a:ext cx="5029200" cy="426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>
            <a:defPPr algn="l"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defPPr>
            <a:lvl1pPr marL="2286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1pPr>
            <a:lvl2pPr marL="5334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2pPr>
            <a:lvl3pPr marL="8382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3pPr>
            <a:lvl4pPr marL="11430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4pPr>
            <a:lvl5pPr marL="14478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5pPr>
            <a:lvl6pPr marL="17526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6pPr>
            <a:lvl7pPr marL="20574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7pPr>
            <a:lvl8pPr marL="23622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8pPr>
            <a:lvl9pPr marL="26670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9pPr>
          </a:lstStyle>
          <a:p xmlns:a="http://schemas.openxmlformats.org/drawingml/2006/main"/>
        </p:txBody>
      </p:sp>
    </p:spTree>
  </p:cSld>
</p:sldLayout>
</file>

<file path=ppt/slideLayouts/slideLayout6.xml><?xml version="1.0" encoding="utf-8"?>
<p:sldLayout xmlns:p="http://schemas.openxmlformats.org/presentationml/2006/main" type="blank">
  <p:cSld name="Blank"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</p:sldLayout>
</file>

<file path=ppt/slideMasters/_rels/slideMaster1.xml.rels>&#65279;<?xml version="1.0" encoding="utf-8"?><Relationships xmlns="http://schemas.openxmlformats.org/package/2006/relationships"><Relationship Type="http://schemas.openxmlformats.org/officeDocument/2006/relationships/theme" Target="/ppt/slideMasters/theme/theme2.xml" Id="Rfeb7f409d039443e" /><Relationship Type="http://schemas.openxmlformats.org/officeDocument/2006/relationships/slideLayout" Target="/ppt/slideLayouts/slideLayout1.xml" Id="Re4d8b1d77f6a4cf4" /><Relationship Type="http://schemas.openxmlformats.org/officeDocument/2006/relationships/slideLayout" Target="/ppt/slideLayouts/slideLayout2.xml" Id="Ra07c3a729eb440c9" /><Relationship Type="http://schemas.openxmlformats.org/officeDocument/2006/relationships/slideLayout" Target="/ppt/slideLayouts/slideLayout3.xml" Id="R084577f103c64e73" /><Relationship Type="http://schemas.openxmlformats.org/officeDocument/2006/relationships/slideLayout" Target="/ppt/slideLayouts/slideLayout4.xml" Id="R6f2c87c3d68148ee" /><Relationship Type="http://schemas.openxmlformats.org/officeDocument/2006/relationships/slideLayout" Target="/ppt/slideLayouts/slideLayout5.xml" Id="R80e26d6ea6824d81" /><Relationship Type="http://schemas.openxmlformats.org/officeDocument/2006/relationships/slideLayout" Target="/ppt/slideLayouts/slideLayout6.xml" Id="R944952a787774b96" /></Relationships>
</file>

<file path=ppt/slideMasters/slideMaster1.xml><?xml version="1.0" encoding="utf-8"?>
<p:sldMaster xmlns:p="http://schemas.openxmlformats.org/presentationml/2006/main">
  <p:cSld name="Master"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xmlns:r="http://schemas.openxmlformats.org/officeDocument/2006/relationships" id="2147483649" r:id="Re4d8b1d77f6a4cf4"/>
    <p:sldLayoutId xmlns:r="http://schemas.openxmlformats.org/officeDocument/2006/relationships" id="2147483650" r:id="Ra07c3a729eb440c9"/>
    <p:sldLayoutId xmlns:r="http://schemas.openxmlformats.org/officeDocument/2006/relationships" id="2147483651" r:id="R084577f103c64e73"/>
    <p:sldLayoutId xmlns:r="http://schemas.openxmlformats.org/officeDocument/2006/relationships" id="2147483652" r:id="R6f2c87c3d68148ee"/>
    <p:sldLayoutId xmlns:r="http://schemas.openxmlformats.org/officeDocument/2006/relationships" id="2147483653" r:id="R80e26d6ea6824d81"/>
    <p:sldLayoutId xmlns:r="http://schemas.openxmlformats.org/officeDocument/2006/relationships" id="2147483654" r:id="R944952a787774b96"/>
  </p:sldLayoutIdLst>
  <p:txStyles>
    <p:titleStyle>
      <a:lvl1pPr xmlns:a="http://schemas.openxmlformats.org/drawingml/2006/main" algn="l">
        <a:lnSpc>
          <a:spcPct val="90000"/>
        </a:lnSpc>
        <a:spcBef>
          <a:spcPts val="0"/>
        </a:spcBef>
        <a:buNone/>
        <a:defRPr sz="4400">
          <a:solidFill>
            <a:schemeClr val="tx1"/>
          </a:solidFill>
          <a:latin typeface="+mj-lt"/>
          <a:ea typeface="+mj-lt"/>
          <a:cs typeface="+mj-lt"/>
        </a:defRPr>
      </a:lvl1pPr>
    </p:titleStyle>
    <p:bodyStyle>
      <a:lvl1pPr xmlns:a="http://schemas.openxmlformats.org/drawingml/2006/main" marL="228600" indent="-228600" algn="l">
        <a:lnSpc>
          <a:spcPct val="90000"/>
        </a:lnSpc>
        <a:spcBef>
          <a:spcPts val="1000"/>
        </a:spcBef>
        <a:buChar char="•"/>
        <a:defRPr sz="2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685800" indent="-228600" algn="l">
        <a:lnSpc>
          <a:spcPct val="90000"/>
        </a:lnSpc>
        <a:spcBef>
          <a:spcPts val="500"/>
        </a:spcBef>
        <a:buChar char="•"/>
        <a:defRPr sz="24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1143000" indent="-228600" algn="l">
        <a:lnSpc>
          <a:spcPct val="90000"/>
        </a:lnSpc>
        <a:spcBef>
          <a:spcPts val="500"/>
        </a:spcBef>
        <a:buChar char="•"/>
        <a:defRPr sz="20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600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20574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5146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9718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4290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886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9pPr>
    </p:bodyStyle>
    <p:otherStyle>
      <a:lvl1pPr xmlns:a="http://schemas.openxmlformats.org/drawingml/2006/main" marL="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457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914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371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18288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2860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743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200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657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9pPr>
    </p:otherStyle>
  </p:txStyles>
</p:sldMaster>
</file>

<file path=ppt/slideMasters/theme/theme2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">
      <a:majorFont>
        <a:latin typeface="Aptos"/>
        <a:ea typeface=""/>
        <a:cs typeface=""/>
      </a:majorFont>
      <a:minorFont>
        <a:latin typeface="Aptos"/>
        <a:ea typeface=""/>
        <a:cs typeface="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slides/_rels/slide1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f51f80ae139a4015" /><Relationship Type="http://schemas.openxmlformats.org/officeDocument/2006/relationships/image" Target="/ppt/media/image.png" Id="R204af379bbde48a8" /><Relationship Type="http://schemas.openxmlformats.org/officeDocument/2006/relationships/notesSlide" Target="/ppt/notesSlides/notesSlide1.xml" Id="R9d97c757bbde4656" /></Relationships>
</file>

<file path=ppt/slides/_rels/slide2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baefbc1b6bb746a1" /><Relationship Type="http://schemas.openxmlformats.org/officeDocument/2006/relationships/notesSlide" Target="/ppt/notesSlides/notesSlide2.xml" Id="R268d2d53d76e4e06" /></Relationships>
</file>

<file path=ppt/slides/_rels/slide3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0ec4b090b5bd4f61" /><Relationship Type="http://schemas.openxmlformats.org/officeDocument/2006/relationships/image" Target="/ppt/media/image2.png" Id="Ra7d9f714c9be4b7f" /><Relationship Type="http://schemas.openxmlformats.org/officeDocument/2006/relationships/image" Target="/ppt/media/image3.png" Id="R043fb71c24c84162" /><Relationship Type="http://schemas.openxmlformats.org/officeDocument/2006/relationships/notesSlide" Target="/ppt/notesSlides/notesSlide3.xml" Id="R7470d483651742a4" /></Relationships>
</file>

<file path=ppt/slides/_rels/slide4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8d4b3b07d4f34c82" /><Relationship Type="http://schemas.openxmlformats.org/officeDocument/2006/relationships/image" Target="/ppt/media/image4.png" Id="Rb5fb0bc637c04a88" /><Relationship Type="http://schemas.openxmlformats.org/officeDocument/2006/relationships/notesSlide" Target="/ppt/notesSlides/notesSlide4.xml" Id="Rd9ba464b89464e7d" /></Relationships>
</file>

<file path=ppt/slides/_rels/slide5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4a41ef3127324c4b" /><Relationship Type="http://schemas.openxmlformats.org/officeDocument/2006/relationships/image" Target="/ppt/media/image5.png" Id="R77733f04f7ed427a" /><Relationship Type="http://schemas.openxmlformats.org/officeDocument/2006/relationships/image" Target="/ppt/media/image6.png" Id="R918547be6fa44c69" /><Relationship Type="http://schemas.openxmlformats.org/officeDocument/2006/relationships/image" Target="/ppt/media/image7.png" Id="R548f3688da094d0b" /><Relationship Type="http://schemas.openxmlformats.org/officeDocument/2006/relationships/notesSlide" Target="/ppt/notesSlides/notesSlide5.xml" Id="Rd81092e66b74456b" /></Relationships>
</file>

<file path=ppt/slides/_rels/slide6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0b006c6d90e546d8" /><Relationship Type="http://schemas.openxmlformats.org/officeDocument/2006/relationships/image" Target="/ppt/media/image8.png" Id="R941a43f716d74c12" /><Relationship Type="http://schemas.openxmlformats.org/officeDocument/2006/relationships/notesSlide" Target="/ppt/notesSlides/notesSlide6.xml" Id="Rfc96ba34ed4b4ee3" /></Relationships>
</file>

<file path=ppt/slides/_rels/slide7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aafd4646138e402e" /><Relationship Type="http://schemas.openxmlformats.org/officeDocument/2006/relationships/image" Target="/ppt/media/image9.png" Id="Rde6db4aa336c4636" /><Relationship Type="http://schemas.openxmlformats.org/officeDocument/2006/relationships/image" Target="/ppt/media/image10.png" Id="R27f81f4eec8d4eea" /><Relationship Type="http://schemas.openxmlformats.org/officeDocument/2006/relationships/notesSlide" Target="/ppt/notesSlides/notesSlide7.xml" Id="R91d8fa4361d44193" /></Relationships>
</file>

<file path=ppt/slides/_rels/slide8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306e8fecdbbf443d" /><Relationship Type="http://schemas.openxmlformats.org/officeDocument/2006/relationships/image" Target="/ppt/media/image11.png" Id="R748b5bfcd54445d1" /><Relationship Type="http://schemas.openxmlformats.org/officeDocument/2006/relationships/image" Target="/ppt/media/image12.png" Id="R69be872495844b0e" /><Relationship Type="http://schemas.openxmlformats.org/officeDocument/2006/relationships/notesSlide" Target="/ppt/notesSlides/notesSlide8.xml" Id="R41a033b31b3c425a" /></Relationships>
</file>

<file path=ppt/slides/_rels/slide9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5296e70b37ff4666" /><Relationship Type="http://schemas.openxmlformats.org/officeDocument/2006/relationships/notesSlide" Target="/ppt/notesSlides/notesSlide9.xml" Id="R67f4ed1618a94ccc" /></Relationships>
</file>

<file path=ppt/slides/slide1.xml><?xml version="1.0" encoding="utf-8"?>
<p:sld xmlns:p="http://schemas.openxmlformats.org/presentationml/2006/main">
  <p:cSld>
    <p:bg>
      <p:bgPr>
        <a:solidFill xmlns:a="http://schemas.openxmlformats.org/drawingml/2006/main">
          <a:srgbClr val="0F2B23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DBE0F201-C020-4DDF-B9F8-56EBAEE7F2E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685800"/>
            <a:ext cx="28575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975" b="1">
                <a:solidFill>
                  <a:srgbClr val="C6F45E"/>
                </a:solidFill>
                <a:latin typeface="Avenir Next"/>
                <a:ea typeface="Avenir Next"/>
                <a:cs typeface="Avenir Next"/>
              </a:defRPr>
            </a:defPPr>
          </a:lstStyle>
          <a:p xmlns:a="http://schemas.openxmlformats.org/drawingml/2006/main">
            <a:pPr>
              <a:defRPr sz="975" b="1">
                <a:solidFill>
                  <a:srgbClr val="C6F45E"/>
                </a:solidFill>
                <a:latin typeface="Avenir Next"/>
                <a:ea typeface="Avenir Next"/>
                <a:cs typeface="Avenir Next"/>
              </a:defRPr>
            </a:pPr>
            <a:r>
              <a:rPr sz="975" b="1">
                <a:solidFill>
                  <a:srgbClr val="C6F45E"/>
                </a:solidFill>
                <a:latin typeface="Avenir Next"/>
                <a:ea typeface="Avenir Next"/>
                <a:cs typeface="Avenir Next"/>
              </a:rPr>
              <a:t>CAPSTONE PROJECT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582AFF92-92EB-4DF2-A36D-84B7D0D1DC4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1257300"/>
            <a:ext cx="4238625" cy="1619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3600" b="1">
                <a:solidFill>
                  <a:srgbClr val="FFFFFF"/>
                </a:solidFill>
                <a:latin typeface="Avenir Next"/>
                <a:ea typeface="Avenir Next"/>
                <a:cs typeface="Avenir Next"/>
              </a:defRPr>
            </a:defPPr>
          </a:lstStyle>
          <a:p xmlns:a="http://schemas.openxmlformats.org/drawingml/2006/main">
            <a:pPr>
              <a:defRPr sz="3600" b="1">
                <a:solidFill>
                  <a:srgbClr val="FFFFFF"/>
                </a:solidFill>
                <a:latin typeface="Avenir Next"/>
                <a:ea typeface="Avenir Next"/>
                <a:cs typeface="Avenir Next"/>
              </a:defRPr>
            </a:pPr>
            <a:r>
              <a:rPr sz="3600" b="1">
                <a:solidFill>
                  <a:srgbClr val="FFFFFF"/>
                </a:solidFill>
                <a:latin typeface="Avenir Next"/>
                <a:ea typeface="Avenir Next"/>
                <a:cs typeface="Avenir Next"/>
              </a:rPr>
              <a:t>DevOps Revision</a:t>
            </a:r>
          </a:p>
          <a:p xmlns:a="http://schemas.openxmlformats.org/drawingml/2006/main">
            <a:pPr>
              <a:defRPr sz="3600" b="1">
                <a:solidFill>
                  <a:srgbClr val="FFFFFF"/>
                </a:solidFill>
                <a:latin typeface="Avenir Next"/>
                <a:ea typeface="Avenir Next"/>
                <a:cs typeface="Avenir Next"/>
              </a:defRPr>
            </a:pPr>
            <a:r>
              <a:rPr sz="3600" b="1">
                <a:solidFill>
                  <a:srgbClr val="FFFFFF"/>
                </a:solidFill>
                <a:latin typeface="Avenir Next"/>
                <a:ea typeface="Avenir Next"/>
                <a:cs typeface="Avenir Next"/>
              </a:rPr>
              <a:t>Tracker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B103E7A2-4787-440E-93D4-2314C64DDDF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3143250"/>
            <a:ext cx="3905250" cy="1123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650" b="0">
                <a:solidFill>
                  <a:srgbClr val="D7E1DC"/>
                </a:solidFill>
                <a:latin typeface="Avenir Next"/>
                <a:ea typeface="Avenir Next"/>
                <a:cs typeface="Avenir Next"/>
              </a:defRPr>
            </a:defPPr>
          </a:lstStyle>
          <a:p xmlns:a="http://schemas.openxmlformats.org/drawingml/2006/main">
            <a:pPr>
              <a:defRPr sz="1650" b="0">
                <a:solidFill>
                  <a:srgbClr val="D7E1DC"/>
                </a:solidFill>
                <a:latin typeface="Avenir Next"/>
                <a:ea typeface="Avenir Next"/>
                <a:cs typeface="Avenir Next"/>
              </a:defRPr>
            </a:pPr>
            <a:r>
              <a:rPr sz="1650" b="0">
                <a:solidFill>
                  <a:srgbClr val="D7E1DC"/>
                </a:solidFill>
                <a:latin typeface="Avenir Next"/>
                <a:ea typeface="Avenir Next"/>
                <a:cs typeface="Avenir Next"/>
              </a:rPr>
              <a:t>A three-tier application with automated delivery, Kubernetes observability, and GitOps reconciliation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7ADB2A51-C4F7-4F64-8F08-72FCCA7BD2A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5619750"/>
            <a:ext cx="20955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500" b="1">
                <a:solidFill>
                  <a:srgbClr val="FFFFFF"/>
                </a:solidFill>
                <a:latin typeface="Avenir Next"/>
                <a:ea typeface="Avenir Next"/>
                <a:cs typeface="Avenir Next"/>
              </a:defRPr>
            </a:defPPr>
          </a:lstStyle>
          <a:p xmlns:a="http://schemas.openxmlformats.org/drawingml/2006/main">
            <a:pPr>
              <a:defRPr sz="1500" b="1">
                <a:solidFill>
                  <a:srgbClr val="FFFFFF"/>
                </a:solidFill>
                <a:latin typeface="Avenir Next"/>
                <a:ea typeface="Avenir Next"/>
                <a:cs typeface="Avenir Next"/>
              </a:defRPr>
            </a:pPr>
            <a:r>
              <a:rPr sz="1500" b="1">
                <a:solidFill>
                  <a:srgbClr val="FFFFFF"/>
                </a:solidFill>
                <a:latin typeface="Avenir Next"/>
                <a:ea typeface="Avenir Next"/>
                <a:cs typeface="Avenir Next"/>
              </a:rPr>
              <a:t>MD Kaif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56D29D61-02AB-4EF1-A9E7-764496DF3BC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5981700"/>
            <a:ext cx="390525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050" b="0">
                <a:solidFill>
                  <a:srgbClr val="C6F45E"/>
                </a:solidFill>
                <a:latin typeface="Avenir Next"/>
                <a:ea typeface="Avenir Next"/>
                <a:cs typeface="Avenir Next"/>
              </a:defRPr>
            </a:defPPr>
          </a:lstStyle>
          <a:p xmlns:a="http://schemas.openxmlformats.org/drawingml/2006/main">
            <a:pPr>
              <a:defRPr sz="1050" b="0">
                <a:solidFill>
                  <a:srgbClr val="C6F45E"/>
                </a:solidFill>
                <a:latin typeface="Avenir Next"/>
                <a:ea typeface="Avenir Next"/>
                <a:cs typeface="Avenir Next"/>
              </a:defRPr>
            </a:pPr>
            <a:r>
              <a:rPr sz="1050" b="0">
                <a:solidFill>
                  <a:srgbClr val="C6F45E"/>
                </a:solidFill>
                <a:latin typeface="Avenir Next"/>
                <a:ea typeface="Avenir Next"/>
                <a:cs typeface="Avenir Next"/>
              </a:rPr>
              <a:t>github.com/WhySeriousKaif/devops-heros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87AD332A-3017-4602-B183-A87934057F6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95875" y="676275"/>
            <a:ext cx="6477000" cy="5429250"/>
          </a:xfrm>
          <a:prstGeom xmlns:a="http://schemas.openxmlformats.org/drawingml/2006/main" prst="roundRect">
            <a:avLst>
              <a:gd name="adj" fmla="val 1404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CAD1C9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4"/>
          <a:fontRef xmlns:a="http://schemas.openxmlformats.org/drawingml/2006/main" idx="major"/>
        </p:style>
      </p:sp>
      <p:pic>
        <p:nvPic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5068B7DB-CDBC-44D0-AB5F-A331FB2D6C90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204af379bbde48a8"/>
          <a:stretch xmlns:a="http://schemas.openxmlformats.org/drawingml/2006/main"/>
        </p:blipFill>
        <p:spPr>
          <a:xfrm xmlns:a="http://schemas.openxmlformats.org/drawingml/2006/main">
            <a:off x="5143500" y="1302737"/>
            <a:ext cx="6381750" cy="4176325"/>
          </a:xfrm>
          <a:prstGeom xmlns:a="http://schemas.openxmlformats.org/drawingml/2006/main" prst="roundRect">
            <a:avLst>
              <a:gd name="adj" fmla="val 1071"/>
            </a:avLst>
          </a:prstGeom>
        </p:spPr>
      </p:pic>
    </p:spTree>
    <p:extLst>
      <p:ext uri="{BB962C8B-B14F-4D97-AF65-F5344CB8AC3E}">
        <p14:creationId xmlns:p14="http://schemas.microsoft.com/office/powerpoint/2010/main" val="1304840611"/>
      </p:ext>
    </p:extLst>
  </p:cSld>
</p:sld>
</file>

<file path=ppt/slides/slide2.xml><?xml version="1.0" encoding="utf-8"?>
<p:sld xmlns:p="http://schemas.openxmlformats.org/presentationml/2006/main">
  <p:cSld>
    <p:bg>
      <p:bgPr>
        <a:solidFill xmlns:a="http://schemas.openxmlformats.org/drawingml/2006/main">
          <a:srgbClr val="F5F3EC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C48E13C6-1811-44D6-9DA9-81B7B292648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361950"/>
            <a:ext cx="1028700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2550" b="1">
                <a:solidFill>
                  <a:srgbClr val="10231D"/>
                </a:solidFill>
                <a:latin typeface="Avenir Next"/>
                <a:ea typeface="Avenir Next"/>
                <a:cs typeface="Avenir Next"/>
              </a:defRPr>
            </a:defPPr>
          </a:lstStyle>
          <a:p xmlns:a="http://schemas.openxmlformats.org/drawingml/2006/main">
            <a:pPr>
              <a:defRPr sz="2550" b="1">
                <a:solidFill>
                  <a:srgbClr val="10231D"/>
                </a:solidFill>
                <a:latin typeface="Avenir Next"/>
                <a:ea typeface="Avenir Next"/>
                <a:cs typeface="Avenir Next"/>
              </a:defRPr>
            </a:pPr>
            <a:r>
              <a:rPr sz="2550" b="1">
                <a:solidFill>
                  <a:srgbClr val="10231D"/>
                </a:solidFill>
                <a:latin typeface="Avenir Next"/>
                <a:ea typeface="Avenir Next"/>
                <a:cs typeface="Avenir Next"/>
              </a:rPr>
              <a:t>System architecture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BB04D11D-0FA5-4CF0-BB3B-7836494A84D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838200"/>
            <a:ext cx="102870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200" b="0">
                <a:solidFill>
                  <a:srgbClr val="60706A"/>
                </a:solidFill>
                <a:latin typeface="Avenir Next"/>
                <a:ea typeface="Avenir Next"/>
                <a:cs typeface="Avenir Next"/>
              </a:defRPr>
            </a:defPPr>
          </a:lstStyle>
          <a:p xmlns:a="http://schemas.openxmlformats.org/drawingml/2006/main">
            <a:pPr>
              <a:defRPr sz="1200" b="0">
                <a:solidFill>
                  <a:srgbClr val="60706A"/>
                </a:solidFill>
                <a:latin typeface="Avenir Next"/>
                <a:ea typeface="Avenir Next"/>
                <a:cs typeface="Avenir Next"/>
              </a:defRPr>
            </a:pPr>
            <a:r>
              <a:rPr sz="1200" b="0">
                <a:solidFill>
                  <a:srgbClr val="60706A"/>
                </a:solidFill>
                <a:latin typeface="Avenir Next"/>
                <a:ea typeface="Avenir Next"/>
                <a:cs typeface="Avenir Next"/>
              </a:rPr>
              <a:t>Git drives delivery and reconciliation; telemetry makes runtime behavior visible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9777CD0C-D2ED-40F0-8032-A8E6E506556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1181100"/>
            <a:ext cx="10934700" cy="285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6F45E"/>
          </a:solidFill>
          <a:ln xmlns:a="http://schemas.openxmlformats.org/drawingml/2006/main" w="0">
            <a:solidFill>
              <a:srgbClr val="C6F45E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26961B04-A212-4DA9-86F7-9D1E6E2D71A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1752600"/>
            <a:ext cx="1714500" cy="781050"/>
          </a:xfrm>
          <a:prstGeom xmlns:a="http://schemas.openxmlformats.org/drawingml/2006/main" prst="roundRect">
            <a:avLst>
              <a:gd name="adj" fmla="val 9756"/>
            </a:avLst>
          </a:prstGeom>
          <a:solidFill xmlns:a="http://schemas.openxmlformats.org/drawingml/2006/main">
            <a:srgbClr val="0F2B23"/>
          </a:solidFill>
          <a:ln xmlns:a="http://schemas.openxmlformats.org/drawingml/2006/main" w="9525">
            <a:solidFill>
              <a:srgbClr val="0F2B23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425" b="1">
                <a:solidFill>
                  <a:srgbClr val="FFFFFF"/>
                </a:solidFill>
                <a:latin typeface="Avenir Next"/>
                <a:ea typeface="Avenir Next"/>
                <a:cs typeface="Avenir Next"/>
              </a:defRPr>
            </a:defPPr>
          </a:lstStyle>
          <a:p xmlns:a="http://schemas.openxmlformats.org/drawingml/2006/main">
            <a:pPr>
              <a:defRPr sz="1425" b="1">
                <a:solidFill>
                  <a:srgbClr val="FFFFFF"/>
                </a:solidFill>
                <a:latin typeface="Avenir Next"/>
                <a:ea typeface="Avenir Next"/>
                <a:cs typeface="Avenir Next"/>
              </a:defRPr>
            </a:pPr>
            <a:r>
              <a:rPr sz="1425" b="1">
                <a:solidFill>
                  <a:srgbClr val="FFFFFF"/>
                </a:solidFill>
                <a:latin typeface="Avenir Next"/>
                <a:ea typeface="Avenir Next"/>
                <a:cs typeface="Avenir Next"/>
              </a:rPr>
              <a:t>GitHub</a:t>
            </a:r>
          </a:p>
          <a:p xmlns:a="http://schemas.openxmlformats.org/drawingml/2006/main">
            <a:pPr>
              <a:defRPr sz="1425" b="1">
                <a:solidFill>
                  <a:srgbClr val="FFFFFF"/>
                </a:solidFill>
                <a:latin typeface="Avenir Next"/>
                <a:ea typeface="Avenir Next"/>
                <a:cs typeface="Avenir Next"/>
              </a:defRPr>
            </a:pPr>
            <a:r>
              <a:rPr sz="1425" b="1">
                <a:solidFill>
                  <a:srgbClr val="FFFFFF"/>
                </a:solidFill>
                <a:latin typeface="Avenir Next"/>
                <a:ea typeface="Avenir Next"/>
                <a:cs typeface="Avenir Next"/>
              </a:rPr>
              <a:t>source and CI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7F652F2A-4BA7-4BD6-BB2E-77F93E5D2F3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990850" y="1752600"/>
            <a:ext cx="1714500" cy="781050"/>
          </a:xfrm>
          <a:prstGeom xmlns:a="http://schemas.openxmlformats.org/drawingml/2006/main" prst="roundRect">
            <a:avLst>
              <a:gd name="adj" fmla="val 9756"/>
            </a:avLst>
          </a:prstGeom>
          <a:solidFill xmlns:a="http://schemas.openxmlformats.org/drawingml/2006/main">
            <a:srgbClr val="2C8060"/>
          </a:solidFill>
          <a:ln xmlns:a="http://schemas.openxmlformats.org/drawingml/2006/main" w="9525">
            <a:solidFill>
              <a:srgbClr val="2C8060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425" b="1">
                <a:solidFill>
                  <a:srgbClr val="FFFFFF"/>
                </a:solidFill>
                <a:latin typeface="Avenir Next"/>
                <a:ea typeface="Avenir Next"/>
                <a:cs typeface="Avenir Next"/>
              </a:defRPr>
            </a:defPPr>
          </a:lstStyle>
          <a:p xmlns:a="http://schemas.openxmlformats.org/drawingml/2006/main">
            <a:pPr>
              <a:defRPr sz="1425" b="1">
                <a:solidFill>
                  <a:srgbClr val="FFFFFF"/>
                </a:solidFill>
                <a:latin typeface="Avenir Next"/>
                <a:ea typeface="Avenir Next"/>
                <a:cs typeface="Avenir Next"/>
              </a:defRPr>
            </a:pPr>
            <a:r>
              <a:rPr sz="1425" b="1">
                <a:solidFill>
                  <a:srgbClr val="FFFFFF"/>
                </a:solidFill>
                <a:latin typeface="Avenir Next"/>
                <a:ea typeface="Avenir Next"/>
                <a:cs typeface="Avenir Next"/>
              </a:rPr>
              <a:t>Argo CD</a:t>
            </a:r>
          </a:p>
          <a:p xmlns:a="http://schemas.openxmlformats.org/drawingml/2006/main">
            <a:pPr>
              <a:defRPr sz="1425" b="1">
                <a:solidFill>
                  <a:srgbClr val="FFFFFF"/>
                </a:solidFill>
                <a:latin typeface="Avenir Next"/>
                <a:ea typeface="Avenir Next"/>
                <a:cs typeface="Avenir Next"/>
              </a:defRPr>
            </a:pPr>
            <a:r>
              <a:rPr sz="1425" b="1">
                <a:solidFill>
                  <a:srgbClr val="FFFFFF"/>
                </a:solidFill>
                <a:latin typeface="Avenir Next"/>
                <a:ea typeface="Avenir Next"/>
                <a:cs typeface="Avenir Next"/>
              </a:rPr>
              <a:t>continuous sync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AE080544-1229-4287-A0E0-6F029CCC158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38750" y="1752600"/>
            <a:ext cx="1714500" cy="781050"/>
          </a:xfrm>
          <a:prstGeom xmlns:a="http://schemas.openxmlformats.org/drawingml/2006/main" prst="roundRect">
            <a:avLst>
              <a:gd name="adj" fmla="val 9756"/>
            </a:avLst>
          </a:prstGeom>
          <a:solidFill xmlns:a="http://schemas.openxmlformats.org/drawingml/2006/main">
            <a:srgbClr val="10231D"/>
          </a:solidFill>
          <a:ln xmlns:a="http://schemas.openxmlformats.org/drawingml/2006/main" w="9525">
            <a:solidFill>
              <a:srgbClr val="10231D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425" b="1">
                <a:solidFill>
                  <a:srgbClr val="FFFFFF"/>
                </a:solidFill>
                <a:latin typeface="Avenir Next"/>
                <a:ea typeface="Avenir Next"/>
                <a:cs typeface="Avenir Next"/>
              </a:defRPr>
            </a:defPPr>
          </a:lstStyle>
          <a:p xmlns:a="http://schemas.openxmlformats.org/drawingml/2006/main">
            <a:pPr>
              <a:defRPr sz="1425" b="1">
                <a:solidFill>
                  <a:srgbClr val="FFFFFF"/>
                </a:solidFill>
                <a:latin typeface="Avenir Next"/>
                <a:ea typeface="Avenir Next"/>
                <a:cs typeface="Avenir Next"/>
              </a:defRPr>
            </a:pPr>
            <a:r>
              <a:rPr sz="1425" b="1">
                <a:solidFill>
                  <a:srgbClr val="FFFFFF"/>
                </a:solidFill>
                <a:latin typeface="Avenir Next"/>
                <a:ea typeface="Avenir Next"/>
                <a:cs typeface="Avenir Next"/>
              </a:rPr>
              <a:t>Kubernetes</a:t>
            </a:r>
          </a:p>
          <a:p xmlns:a="http://schemas.openxmlformats.org/drawingml/2006/main">
            <a:pPr>
              <a:defRPr sz="1425" b="1">
                <a:solidFill>
                  <a:srgbClr val="FFFFFF"/>
                </a:solidFill>
                <a:latin typeface="Avenir Next"/>
                <a:ea typeface="Avenir Next"/>
                <a:cs typeface="Avenir Next"/>
              </a:defRPr>
            </a:pPr>
            <a:r>
              <a:rPr sz="1425" b="1">
                <a:solidFill>
                  <a:srgbClr val="FFFFFF"/>
                </a:solidFill>
                <a:latin typeface="Avenir Next"/>
                <a:ea typeface="Avenir Next"/>
                <a:cs typeface="Avenir Next"/>
              </a:rPr>
              <a:t>and Helm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8A9A1D98-8A6A-4C6D-A4ED-E745F8263B6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86650" y="1752600"/>
            <a:ext cx="1714500" cy="781050"/>
          </a:xfrm>
          <a:prstGeom xmlns:a="http://schemas.openxmlformats.org/drawingml/2006/main" prst="roundRect">
            <a:avLst>
              <a:gd name="adj" fmla="val 9756"/>
            </a:avLst>
          </a:prstGeom>
          <a:solidFill xmlns:a="http://schemas.openxmlformats.org/drawingml/2006/main">
            <a:srgbClr val="E99054"/>
          </a:solidFill>
          <a:ln xmlns:a="http://schemas.openxmlformats.org/drawingml/2006/main" w="9525">
            <a:solidFill>
              <a:srgbClr val="E99054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425" b="1">
                <a:solidFill>
                  <a:srgbClr val="FFFFFF"/>
                </a:solidFill>
                <a:latin typeface="Avenir Next"/>
                <a:ea typeface="Avenir Next"/>
                <a:cs typeface="Avenir Next"/>
              </a:defRPr>
            </a:defPPr>
          </a:lstStyle>
          <a:p xmlns:a="http://schemas.openxmlformats.org/drawingml/2006/main">
            <a:pPr>
              <a:defRPr sz="1425" b="1">
                <a:solidFill>
                  <a:srgbClr val="FFFFFF"/>
                </a:solidFill>
                <a:latin typeface="Avenir Next"/>
                <a:ea typeface="Avenir Next"/>
                <a:cs typeface="Avenir Next"/>
              </a:defRPr>
            </a:pPr>
            <a:r>
              <a:rPr sz="1425" b="1">
                <a:solidFill>
                  <a:srgbClr val="FFFFFF"/>
                </a:solidFill>
                <a:latin typeface="Avenir Next"/>
                <a:ea typeface="Avenir Next"/>
                <a:cs typeface="Avenir Next"/>
              </a:rPr>
              <a:t>Prometheus</a:t>
            </a:r>
          </a:p>
          <a:p xmlns:a="http://schemas.openxmlformats.org/drawingml/2006/main">
            <a:pPr>
              <a:defRPr sz="1425" b="1">
                <a:solidFill>
                  <a:srgbClr val="FFFFFF"/>
                </a:solidFill>
                <a:latin typeface="Avenir Next"/>
                <a:ea typeface="Avenir Next"/>
                <a:cs typeface="Avenir Next"/>
              </a:defRPr>
            </a:pPr>
            <a:r>
              <a:rPr sz="1425" b="1">
                <a:solidFill>
                  <a:srgbClr val="FFFFFF"/>
                </a:solidFill>
                <a:latin typeface="Avenir Next"/>
                <a:ea typeface="Avenir Next"/>
                <a:cs typeface="Avenir Next"/>
              </a:rPr>
              <a:t>and alerts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22E626FC-8E65-458C-9C0C-4C50DB6E0BC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34550" y="1752600"/>
            <a:ext cx="1714500" cy="781050"/>
          </a:xfrm>
          <a:prstGeom xmlns:a="http://schemas.openxmlformats.org/drawingml/2006/main" prst="roundRect">
            <a:avLst>
              <a:gd name="adj" fmla="val 9756"/>
            </a:avLst>
          </a:prstGeom>
          <a:solidFill xmlns:a="http://schemas.openxmlformats.org/drawingml/2006/main">
            <a:srgbClr val="0F2B23"/>
          </a:solidFill>
          <a:ln xmlns:a="http://schemas.openxmlformats.org/drawingml/2006/main" w="9525">
            <a:solidFill>
              <a:srgbClr val="0F2B23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425" b="1">
                <a:solidFill>
                  <a:srgbClr val="FFFFFF"/>
                </a:solidFill>
                <a:latin typeface="Avenir Next"/>
                <a:ea typeface="Avenir Next"/>
                <a:cs typeface="Avenir Next"/>
              </a:defRPr>
            </a:defPPr>
          </a:lstStyle>
          <a:p xmlns:a="http://schemas.openxmlformats.org/drawingml/2006/main">
            <a:pPr>
              <a:defRPr sz="1425" b="1">
                <a:solidFill>
                  <a:srgbClr val="FFFFFF"/>
                </a:solidFill>
                <a:latin typeface="Avenir Next"/>
                <a:ea typeface="Avenir Next"/>
                <a:cs typeface="Avenir Next"/>
              </a:defRPr>
            </a:pPr>
            <a:r>
              <a:rPr sz="1425" b="1">
                <a:solidFill>
                  <a:srgbClr val="FFFFFF"/>
                </a:solidFill>
                <a:latin typeface="Avenir Next"/>
                <a:ea typeface="Avenir Next"/>
                <a:cs typeface="Avenir Next"/>
              </a:rPr>
              <a:t>Grafana</a:t>
            </a:r>
          </a:p>
          <a:p xmlns:a="http://schemas.openxmlformats.org/drawingml/2006/main">
            <a:pPr>
              <a:defRPr sz="1425" b="1">
                <a:solidFill>
                  <a:srgbClr val="FFFFFF"/>
                </a:solidFill>
                <a:latin typeface="Avenir Next"/>
                <a:ea typeface="Avenir Next"/>
                <a:cs typeface="Avenir Next"/>
              </a:defRPr>
            </a:pPr>
            <a:r>
              <a:rPr sz="1425" b="1">
                <a:solidFill>
                  <a:srgbClr val="FFFFFF"/>
                </a:solidFill>
                <a:latin typeface="Avenir Next"/>
                <a:ea typeface="Avenir Next"/>
                <a:cs typeface="Avenir Next"/>
              </a:rPr>
              <a:t>dashboards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C304CFA8-C864-413E-A1AA-C4C9CE0E14F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600325" y="1990725"/>
            <a:ext cx="266700" cy="285750"/>
          </a:xfrm>
          <a:prstGeom xmlns:a="http://schemas.openxmlformats.org/drawingml/2006/main" prst="chevron">
            <a:avLst/>
          </a:prstGeom>
          <a:solidFill xmlns:a="http://schemas.openxmlformats.org/drawingml/2006/main">
            <a:srgbClr val="C6F45E"/>
          </a:solidFill>
          <a:ln xmlns:a="http://schemas.openxmlformats.org/drawingml/2006/main" w="0">
            <a:solidFill>
              <a:srgbClr val="C6F45E"/>
            </a:solidFill>
            <a:prstDash val="solid"/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EDD5EDE1-39B5-439D-9F27-F5984939F0F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48225" y="1990725"/>
            <a:ext cx="266700" cy="285750"/>
          </a:xfrm>
          <a:prstGeom xmlns:a="http://schemas.openxmlformats.org/drawingml/2006/main" prst="chevron">
            <a:avLst/>
          </a:prstGeom>
          <a:solidFill xmlns:a="http://schemas.openxmlformats.org/drawingml/2006/main">
            <a:srgbClr val="C6F45E"/>
          </a:solidFill>
          <a:ln xmlns:a="http://schemas.openxmlformats.org/drawingml/2006/main" w="0">
            <a:solidFill>
              <a:srgbClr val="C6F45E"/>
            </a:solidFill>
            <a:prstDash val="solid"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AB2A37D5-426E-446F-B20B-92223A23D31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96125" y="1990725"/>
            <a:ext cx="266700" cy="285750"/>
          </a:xfrm>
          <a:prstGeom xmlns:a="http://schemas.openxmlformats.org/drawingml/2006/main" prst="chevron">
            <a:avLst/>
          </a:prstGeom>
          <a:solidFill xmlns:a="http://schemas.openxmlformats.org/drawingml/2006/main">
            <a:srgbClr val="C6F45E"/>
          </a:solidFill>
          <a:ln xmlns:a="http://schemas.openxmlformats.org/drawingml/2006/main" w="0">
            <a:solidFill>
              <a:srgbClr val="C6F45E"/>
            </a:solidFill>
            <a:prstDash val="solid"/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28BE242A-278E-47A6-8BC6-D76ECE5CBAE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44025" y="1990725"/>
            <a:ext cx="266700" cy="285750"/>
          </a:xfrm>
          <a:prstGeom xmlns:a="http://schemas.openxmlformats.org/drawingml/2006/main" prst="chevron">
            <a:avLst/>
          </a:prstGeom>
          <a:solidFill xmlns:a="http://schemas.openxmlformats.org/drawingml/2006/main">
            <a:srgbClr val="C6F45E"/>
          </a:solidFill>
          <a:ln xmlns:a="http://schemas.openxmlformats.org/drawingml/2006/main" w="0">
            <a:solidFill>
              <a:srgbClr val="C6F45E"/>
            </a:solidFill>
            <a:prstDash val="solid"/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B1604C68-A614-4BFA-A2B1-E3F2EC44EF8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962150" y="3381375"/>
            <a:ext cx="21907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900" b="1">
                <a:solidFill>
                  <a:srgbClr val="2C8060"/>
                </a:solidFill>
                <a:latin typeface="Avenir Next"/>
                <a:ea typeface="Avenir Next"/>
                <a:cs typeface="Avenir Next"/>
              </a:defRPr>
            </a:defPPr>
          </a:lstStyle>
          <a:p xmlns:a="http://schemas.openxmlformats.org/drawingml/2006/main">
            <a:pPr>
              <a:defRPr sz="900" b="1">
                <a:solidFill>
                  <a:srgbClr val="2C8060"/>
                </a:solidFill>
                <a:latin typeface="Avenir Next"/>
                <a:ea typeface="Avenir Next"/>
                <a:cs typeface="Avenir Next"/>
              </a:defRPr>
            </a:pPr>
            <a:r>
              <a:rPr sz="900" b="1">
                <a:solidFill>
                  <a:srgbClr val="2C8060"/>
                </a:solidFill>
                <a:latin typeface="Avenir Next"/>
                <a:ea typeface="Avenir Next"/>
                <a:cs typeface="Avenir Next"/>
              </a:rPr>
              <a:t>FRONTEND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F9DBC8CA-A2AE-4581-9CE9-2ABC159EA84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962150" y="3695700"/>
            <a:ext cx="2190750" cy="1009650"/>
          </a:xfrm>
          <a:prstGeom xmlns:a="http://schemas.openxmlformats.org/drawingml/2006/main" prst="roundRect">
            <a:avLst>
              <a:gd name="adj" fmla="val 7547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CAD1C9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725" b="1">
                <a:solidFill>
                  <a:srgbClr val="10231D"/>
                </a:solidFill>
                <a:latin typeface="Avenir Next"/>
                <a:ea typeface="Avenir Next"/>
                <a:cs typeface="Avenir Next"/>
              </a:defRPr>
            </a:defPPr>
          </a:lstStyle>
          <a:p xmlns:a="http://schemas.openxmlformats.org/drawingml/2006/main">
            <a:pPr>
              <a:defRPr sz="1725" b="1">
                <a:solidFill>
                  <a:srgbClr val="10231D"/>
                </a:solidFill>
                <a:latin typeface="Avenir Next"/>
                <a:ea typeface="Avenir Next"/>
                <a:cs typeface="Avenir Next"/>
              </a:defRPr>
            </a:pPr>
            <a:r>
              <a:rPr sz="1725" b="1">
                <a:solidFill>
                  <a:srgbClr val="10231D"/>
                </a:solidFill>
                <a:latin typeface="Avenir Next"/>
                <a:ea typeface="Avenir Next"/>
                <a:cs typeface="Avenir Next"/>
              </a:rPr>
              <a:t>React + Nginx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E2106DC6-0121-4115-84A0-1A2BFA3BE83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91075" y="3381375"/>
            <a:ext cx="21907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900" b="1">
                <a:solidFill>
                  <a:srgbClr val="2C8060"/>
                </a:solidFill>
                <a:latin typeface="Avenir Next"/>
                <a:ea typeface="Avenir Next"/>
                <a:cs typeface="Avenir Next"/>
              </a:defRPr>
            </a:defPPr>
          </a:lstStyle>
          <a:p xmlns:a="http://schemas.openxmlformats.org/drawingml/2006/main">
            <a:pPr>
              <a:defRPr sz="900" b="1">
                <a:solidFill>
                  <a:srgbClr val="2C8060"/>
                </a:solidFill>
                <a:latin typeface="Avenir Next"/>
                <a:ea typeface="Avenir Next"/>
                <a:cs typeface="Avenir Next"/>
              </a:defRPr>
            </a:pPr>
            <a:r>
              <a:rPr sz="900" b="1">
                <a:solidFill>
                  <a:srgbClr val="2C8060"/>
                </a:solidFill>
                <a:latin typeface="Avenir Next"/>
                <a:ea typeface="Avenir Next"/>
                <a:cs typeface="Avenir Next"/>
              </a:rPr>
              <a:t>BACKEND API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7602DE7C-17B1-47E2-BC6A-CA9FE77226E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91075" y="3695700"/>
            <a:ext cx="2190750" cy="1009650"/>
          </a:xfrm>
          <a:prstGeom xmlns:a="http://schemas.openxmlformats.org/drawingml/2006/main" prst="roundRect">
            <a:avLst>
              <a:gd name="adj" fmla="val 7547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CAD1C9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725" b="1">
                <a:solidFill>
                  <a:srgbClr val="10231D"/>
                </a:solidFill>
                <a:latin typeface="Avenir Next"/>
                <a:ea typeface="Avenir Next"/>
                <a:cs typeface="Avenir Next"/>
              </a:defRPr>
            </a:defPPr>
          </a:lstStyle>
          <a:p xmlns:a="http://schemas.openxmlformats.org/drawingml/2006/main">
            <a:pPr>
              <a:defRPr sz="1725" b="1">
                <a:solidFill>
                  <a:srgbClr val="10231D"/>
                </a:solidFill>
                <a:latin typeface="Avenir Next"/>
                <a:ea typeface="Avenir Next"/>
                <a:cs typeface="Avenir Next"/>
              </a:defRPr>
            </a:pPr>
            <a:r>
              <a:rPr sz="1725" b="1">
                <a:solidFill>
                  <a:srgbClr val="10231D"/>
                </a:solidFill>
                <a:latin typeface="Avenir Next"/>
                <a:ea typeface="Avenir Next"/>
                <a:cs typeface="Avenir Next"/>
              </a:rPr>
              <a:t>FastAPI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62108825-E837-4C81-80AC-5AC740E2430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0" y="3381375"/>
            <a:ext cx="21907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900" b="1">
                <a:solidFill>
                  <a:srgbClr val="2C8060"/>
                </a:solidFill>
                <a:latin typeface="Avenir Next"/>
                <a:ea typeface="Avenir Next"/>
                <a:cs typeface="Avenir Next"/>
              </a:defRPr>
            </a:defPPr>
          </a:lstStyle>
          <a:p xmlns:a="http://schemas.openxmlformats.org/drawingml/2006/main">
            <a:pPr>
              <a:defRPr sz="900" b="1">
                <a:solidFill>
                  <a:srgbClr val="2C8060"/>
                </a:solidFill>
                <a:latin typeface="Avenir Next"/>
                <a:ea typeface="Avenir Next"/>
                <a:cs typeface="Avenir Next"/>
              </a:defRPr>
            </a:pPr>
            <a:r>
              <a:rPr sz="900" b="1">
                <a:solidFill>
                  <a:srgbClr val="2C8060"/>
                </a:solidFill>
                <a:latin typeface="Avenir Next"/>
                <a:ea typeface="Avenir Next"/>
                <a:cs typeface="Avenir Next"/>
              </a:rPr>
              <a:t>PERSISTENT DATA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B0088CE4-6E2F-4790-A93D-AB3B508E3F4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0" y="3695700"/>
            <a:ext cx="2190750" cy="1009650"/>
          </a:xfrm>
          <a:prstGeom xmlns:a="http://schemas.openxmlformats.org/drawingml/2006/main" prst="roundRect">
            <a:avLst>
              <a:gd name="adj" fmla="val 7547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CAD1C9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725" b="1">
                <a:solidFill>
                  <a:srgbClr val="10231D"/>
                </a:solidFill>
                <a:latin typeface="Avenir Next"/>
                <a:ea typeface="Avenir Next"/>
                <a:cs typeface="Avenir Next"/>
              </a:defRPr>
            </a:defPPr>
          </a:lstStyle>
          <a:p xmlns:a="http://schemas.openxmlformats.org/drawingml/2006/main">
            <a:pPr>
              <a:defRPr sz="1725" b="1">
                <a:solidFill>
                  <a:srgbClr val="10231D"/>
                </a:solidFill>
                <a:latin typeface="Avenir Next"/>
                <a:ea typeface="Avenir Next"/>
                <a:cs typeface="Avenir Next"/>
              </a:defRPr>
            </a:pPr>
            <a:r>
              <a:rPr sz="1725" b="1">
                <a:solidFill>
                  <a:srgbClr val="10231D"/>
                </a:solidFill>
                <a:latin typeface="Avenir Next"/>
                <a:ea typeface="Avenir Next"/>
                <a:cs typeface="Avenir Next"/>
              </a:rPr>
              <a:t>PostgreSQL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A77ED782-4CC0-48E1-AF82-084D74397AA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05300" y="4038600"/>
            <a:ext cx="323850" cy="323850"/>
          </a:xfrm>
          <a:prstGeom xmlns:a="http://schemas.openxmlformats.org/drawingml/2006/main" prst="chevron">
            <a:avLst/>
          </a:prstGeom>
          <a:solidFill xmlns:a="http://schemas.openxmlformats.org/drawingml/2006/main">
            <a:srgbClr val="E99054"/>
          </a:solidFill>
          <a:ln xmlns:a="http://schemas.openxmlformats.org/drawingml/2006/main" w="0">
            <a:solidFill>
              <a:srgbClr val="E99054"/>
            </a:solidFill>
            <a:prstDash val="solid"/>
          </a:ln>
        </p:spPr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A93C7815-E9F6-4CC5-B9E0-574941087AD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34225" y="4038600"/>
            <a:ext cx="323850" cy="323850"/>
          </a:xfrm>
          <a:prstGeom xmlns:a="http://schemas.openxmlformats.org/drawingml/2006/main" prst="chevron">
            <a:avLst/>
          </a:prstGeom>
          <a:solidFill xmlns:a="http://schemas.openxmlformats.org/drawingml/2006/main">
            <a:srgbClr val="E99054"/>
          </a:solidFill>
          <a:ln xmlns:a="http://schemas.openxmlformats.org/drawingml/2006/main" w="0">
            <a:solidFill>
              <a:srgbClr val="E99054"/>
            </a:solidFill>
            <a:prstDash val="solid"/>
          </a:ln>
        </p:spPr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C8825D57-F0A6-48C3-83F0-9A6BB3A9FF4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924050" y="5219700"/>
            <a:ext cx="790575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500" b="0">
                <a:solidFill>
                  <a:srgbClr val="60706A"/>
                </a:solidFill>
                <a:latin typeface="Avenir Next"/>
                <a:ea typeface="Avenir Next"/>
                <a:cs typeface="Avenir Next"/>
              </a:defRPr>
            </a:defPPr>
          </a:lstStyle>
          <a:p xmlns:a="http://schemas.openxmlformats.org/drawingml/2006/main">
            <a:pPr>
              <a:defRPr sz="1500" b="0">
                <a:solidFill>
                  <a:srgbClr val="60706A"/>
                </a:solidFill>
                <a:latin typeface="Avenir Next"/>
                <a:ea typeface="Avenir Next"/>
                <a:cs typeface="Avenir Next"/>
              </a:defRPr>
            </a:pPr>
            <a:r>
              <a:rPr sz="1500" b="0">
                <a:solidFill>
                  <a:srgbClr val="60706A"/>
                </a:solidFill>
                <a:latin typeface="Avenir Next"/>
                <a:ea typeface="Avenir Next"/>
                <a:cs typeface="Avenir Next"/>
              </a:rPr>
              <a:t>Health probes, metrics, logs, and declarative configuration connect build-time quality to runtime operations.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83BDADED-BF5C-40F5-B83D-B384089A6DE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6477000"/>
            <a:ext cx="28575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825" b="0">
                <a:solidFill>
                  <a:srgbClr val="60706A"/>
                </a:solidFill>
                <a:latin typeface="Avenir Next"/>
                <a:ea typeface="Avenir Next"/>
                <a:cs typeface="Avenir Next"/>
              </a:defRPr>
            </a:defPPr>
          </a:lstStyle>
          <a:p xmlns:a="http://schemas.openxmlformats.org/drawingml/2006/main">
            <a:pPr>
              <a:defRPr sz="825" b="0">
                <a:solidFill>
                  <a:srgbClr val="60706A"/>
                </a:solidFill>
                <a:latin typeface="Avenir Next"/>
                <a:ea typeface="Avenir Next"/>
                <a:cs typeface="Avenir Next"/>
              </a:defRPr>
            </a:pPr>
            <a:r>
              <a:rPr sz="825" b="0">
                <a:solidFill>
                  <a:srgbClr val="60706A"/>
                </a:solidFill>
                <a:latin typeface="Avenir Next"/>
                <a:ea typeface="Avenir Next"/>
                <a:cs typeface="Avenir Next"/>
              </a:rPr>
              <a:t>DevOps Revision Tracker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4B3453AD-4A05-401A-B082-7CCFCE86C32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0" y="6448425"/>
            <a:ext cx="5143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900" b="1">
                <a:solidFill>
                  <a:srgbClr val="2C8060"/>
                </a:solidFill>
                <a:latin typeface="Avenir Next"/>
                <a:ea typeface="Avenir Next"/>
                <a:cs typeface="Avenir Next"/>
              </a:defRPr>
            </a:defPPr>
          </a:lstStyle>
          <a:p xmlns:a="http://schemas.openxmlformats.org/drawingml/2006/main">
            <a:pPr>
              <a:defRPr sz="900" b="1">
                <a:solidFill>
                  <a:srgbClr val="2C8060"/>
                </a:solidFill>
                <a:latin typeface="Avenir Next"/>
                <a:ea typeface="Avenir Next"/>
                <a:cs typeface="Avenir Next"/>
              </a:defRPr>
            </a:pPr>
            <a:r>
              <a:rPr sz="900" b="1">
                <a:solidFill>
                  <a:srgbClr val="2C8060"/>
                </a:solidFill>
                <a:latin typeface="Avenir Next"/>
                <a:ea typeface="Avenir Next"/>
                <a:cs typeface="Avenir Next"/>
              </a:rPr>
              <a:t>02</a:t>
            </a:r>
          </a:p>
        </p:txBody>
      </p:sp>
    </p:spTree>
    <p:extLst>
      <p:ext uri="{BB962C8B-B14F-4D97-AF65-F5344CB8AC3E}">
        <p14:creationId xmlns:p14="http://schemas.microsoft.com/office/powerpoint/2010/main" val="1905826263"/>
      </p:ext>
    </p:extLst>
  </p:cSld>
</p:sld>
</file>

<file path=ppt/slides/slide3.xml><?xml version="1.0" encoding="utf-8"?>
<p:sld xmlns:p="http://schemas.openxmlformats.org/presentationml/2006/main">
  <p:cSld>
    <p:bg>
      <p:bgPr>
        <a:solidFill xmlns:a="http://schemas.openxmlformats.org/drawingml/2006/main">
          <a:srgbClr val="F5F3EC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A055C820-F44D-4129-9D61-6C1B8B74D4B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361950"/>
            <a:ext cx="1028700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2550" b="1">
                <a:solidFill>
                  <a:srgbClr val="10231D"/>
                </a:solidFill>
                <a:latin typeface="Avenir Next"/>
                <a:ea typeface="Avenir Next"/>
                <a:cs typeface="Avenir Next"/>
              </a:defRPr>
            </a:defPPr>
          </a:lstStyle>
          <a:p xmlns:a="http://schemas.openxmlformats.org/drawingml/2006/main">
            <a:pPr>
              <a:defRPr sz="2550" b="1">
                <a:solidFill>
                  <a:srgbClr val="10231D"/>
                </a:solidFill>
                <a:latin typeface="Avenir Next"/>
                <a:ea typeface="Avenir Next"/>
                <a:cs typeface="Avenir Next"/>
              </a:defRPr>
            </a:pPr>
            <a:r>
              <a:rPr sz="2550" b="1">
                <a:solidFill>
                  <a:srgbClr val="10231D"/>
                </a:solidFill>
                <a:latin typeface="Avenir Next"/>
                <a:ea typeface="Avenir Next"/>
                <a:cs typeface="Avenir Next"/>
              </a:rPr>
              <a:t>Application and automated testing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B38680DA-E71A-4DA9-978B-8BA09382FC4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838200"/>
            <a:ext cx="102870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200" b="0">
                <a:solidFill>
                  <a:srgbClr val="60706A"/>
                </a:solidFill>
                <a:latin typeface="Avenir Next"/>
                <a:ea typeface="Avenir Next"/>
                <a:cs typeface="Avenir Next"/>
              </a:defRPr>
            </a:defPPr>
          </a:lstStyle>
          <a:p xmlns:a="http://schemas.openxmlformats.org/drawingml/2006/main">
            <a:pPr>
              <a:defRPr sz="1200" b="0">
                <a:solidFill>
                  <a:srgbClr val="60706A"/>
                </a:solidFill>
                <a:latin typeface="Avenir Next"/>
                <a:ea typeface="Avenir Next"/>
                <a:cs typeface="Avenir Next"/>
              </a:defRPr>
            </a:pPr>
            <a:r>
              <a:rPr sz="1200" b="0">
                <a:solidFill>
                  <a:srgbClr val="60706A"/>
                </a:solidFill>
                <a:latin typeface="Avenir Next"/>
                <a:ea typeface="Avenir Next"/>
                <a:cs typeface="Avenir Next"/>
              </a:rPr>
              <a:t>The API exposes health, readiness, metrics, and CRUD endpoints; nine tests protect the core behavior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1018E7CE-557A-4B0D-A89C-C8E82441EE1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1181100"/>
            <a:ext cx="10934700" cy="285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6F45E"/>
          </a:solidFill>
          <a:ln xmlns:a="http://schemas.openxmlformats.org/drawingml/2006/main" w="0">
            <a:solidFill>
              <a:srgbClr val="C6F45E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0C081A68-410C-4FBC-9AE5-ACC3D92C7C8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81025" y="1476375"/>
            <a:ext cx="6762750" cy="4191000"/>
          </a:xfrm>
          <a:prstGeom xmlns:a="http://schemas.openxmlformats.org/drawingml/2006/main" prst="roundRect">
            <a:avLst>
              <a:gd name="adj" fmla="val 1818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CAD1C9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4"/>
          <a:fontRef xmlns:a="http://schemas.openxmlformats.org/drawingml/2006/main" idx="major"/>
        </p:style>
      </p:sp>
      <p:pic>
        <p:nvPic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51396EF2-0B19-4F70-963A-761E89F4C5CE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a7d9f714c9be4b7f"/>
          <a:stretch xmlns:a="http://schemas.openxmlformats.org/drawingml/2006/main"/>
        </p:blipFill>
        <p:spPr>
          <a:xfrm xmlns:a="http://schemas.openxmlformats.org/drawingml/2006/main">
            <a:off x="813471" y="1524000"/>
            <a:ext cx="6297858" cy="4095750"/>
          </a:xfrm>
          <a:prstGeom xmlns:a="http://schemas.openxmlformats.org/drawingml/2006/main" prst="roundRect">
            <a:avLst>
              <a:gd name="adj" fmla="val 1395"/>
            </a:avLst>
          </a:prstGeom>
        </p:spPr>
      </p:pic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AEB2914D-E4CC-4722-93BA-44228649FD1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524750" y="1476375"/>
            <a:ext cx="4086225" cy="4191000"/>
          </a:xfrm>
          <a:prstGeom xmlns:a="http://schemas.openxmlformats.org/drawingml/2006/main" prst="roundRect">
            <a:avLst>
              <a:gd name="adj" fmla="val 1865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CAD1C9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4"/>
          <a:fontRef xmlns:a="http://schemas.openxmlformats.org/drawingml/2006/main" idx="major"/>
        </p:style>
      </p:sp>
      <p:pic>
        <p:nvPic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BD4ACE2A-3F73-4B87-8804-86C1A401AAD6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043fb71c24c84162"/>
          <a:stretch xmlns:a="http://schemas.openxmlformats.org/drawingml/2006/main"/>
        </p:blipFill>
        <p:spPr>
          <a:xfrm xmlns:a="http://schemas.openxmlformats.org/drawingml/2006/main">
            <a:off x="7572375" y="2320284"/>
            <a:ext cx="3990975" cy="2503183"/>
          </a:xfrm>
          <a:prstGeom xmlns:a="http://schemas.openxmlformats.org/drawingml/2006/main" prst="roundRect">
            <a:avLst>
              <a:gd name="adj" fmla="val 1432"/>
            </a:avLst>
          </a:prstGeom>
        </p:spPr>
      </p:pic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06DCECB0-FFD9-4825-B6E4-E49E442BFD3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5810250"/>
            <a:ext cx="40957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350" b="1">
                <a:solidFill>
                  <a:srgbClr val="2C8060"/>
                </a:solidFill>
                <a:latin typeface="Avenir Next"/>
                <a:ea typeface="Avenir Next"/>
                <a:cs typeface="Avenir Next"/>
              </a:defRPr>
            </a:defPPr>
          </a:lstStyle>
          <a:p xmlns:a="http://schemas.openxmlformats.org/drawingml/2006/main">
            <a:pPr>
              <a:defRPr sz="1350" b="1">
                <a:solidFill>
                  <a:srgbClr val="2C8060"/>
                </a:solidFill>
                <a:latin typeface="Avenir Next"/>
                <a:ea typeface="Avenir Next"/>
                <a:cs typeface="Avenir Next"/>
              </a:defRPr>
            </a:pPr>
            <a:r>
              <a:rPr sz="1350" b="1">
                <a:solidFill>
                  <a:srgbClr val="2C8060"/>
                </a:solidFill>
                <a:latin typeface="Avenir Next"/>
                <a:ea typeface="Avenir Next"/>
                <a:cs typeface="Avenir Next"/>
              </a:rPr>
              <a:t>Swagger documents the contract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2B9DC863-C324-4120-B6D7-5F6DC3D52B0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572375" y="5810250"/>
            <a:ext cx="28575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350" b="1">
                <a:solidFill>
                  <a:srgbClr val="2C8060"/>
                </a:solidFill>
                <a:latin typeface="Avenir Next"/>
                <a:ea typeface="Avenir Next"/>
                <a:cs typeface="Avenir Next"/>
              </a:defRPr>
            </a:defPPr>
          </a:lstStyle>
          <a:p xmlns:a="http://schemas.openxmlformats.org/drawingml/2006/main">
            <a:pPr>
              <a:defRPr sz="1350" b="1">
                <a:solidFill>
                  <a:srgbClr val="2C8060"/>
                </a:solidFill>
                <a:latin typeface="Avenir Next"/>
                <a:ea typeface="Avenir Next"/>
                <a:cs typeface="Avenir Next"/>
              </a:defRPr>
            </a:pPr>
            <a:r>
              <a:rPr sz="1350" b="1">
                <a:solidFill>
                  <a:srgbClr val="2C8060"/>
                </a:solidFill>
                <a:latin typeface="Avenir Next"/>
                <a:ea typeface="Avenir Next"/>
                <a:cs typeface="Avenir Next"/>
              </a:rPr>
              <a:t>9 passed in 0.59s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5E0EDF1A-26FD-44F8-B228-792F11ACBB6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6477000"/>
            <a:ext cx="28575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825" b="0">
                <a:solidFill>
                  <a:srgbClr val="60706A"/>
                </a:solidFill>
                <a:latin typeface="Avenir Next"/>
                <a:ea typeface="Avenir Next"/>
                <a:cs typeface="Avenir Next"/>
              </a:defRPr>
            </a:defPPr>
          </a:lstStyle>
          <a:p xmlns:a="http://schemas.openxmlformats.org/drawingml/2006/main">
            <a:pPr>
              <a:defRPr sz="825" b="0">
                <a:solidFill>
                  <a:srgbClr val="60706A"/>
                </a:solidFill>
                <a:latin typeface="Avenir Next"/>
                <a:ea typeface="Avenir Next"/>
                <a:cs typeface="Avenir Next"/>
              </a:defRPr>
            </a:pPr>
            <a:r>
              <a:rPr sz="825" b="0">
                <a:solidFill>
                  <a:srgbClr val="60706A"/>
                </a:solidFill>
                <a:latin typeface="Avenir Next"/>
                <a:ea typeface="Avenir Next"/>
                <a:cs typeface="Avenir Next"/>
              </a:rPr>
              <a:t>DevOps Revision Tracker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379BA0C8-5C29-4FB7-85DF-F37D23051BE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0" y="6448425"/>
            <a:ext cx="5143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900" b="1">
                <a:solidFill>
                  <a:srgbClr val="2C8060"/>
                </a:solidFill>
                <a:latin typeface="Avenir Next"/>
                <a:ea typeface="Avenir Next"/>
                <a:cs typeface="Avenir Next"/>
              </a:defRPr>
            </a:defPPr>
          </a:lstStyle>
          <a:p xmlns:a="http://schemas.openxmlformats.org/drawingml/2006/main">
            <a:pPr>
              <a:defRPr sz="900" b="1">
                <a:solidFill>
                  <a:srgbClr val="2C8060"/>
                </a:solidFill>
                <a:latin typeface="Avenir Next"/>
                <a:ea typeface="Avenir Next"/>
                <a:cs typeface="Avenir Next"/>
              </a:defRPr>
            </a:pPr>
            <a:r>
              <a:rPr sz="900" b="1">
                <a:solidFill>
                  <a:srgbClr val="2C8060"/>
                </a:solidFill>
                <a:latin typeface="Avenir Next"/>
                <a:ea typeface="Avenir Next"/>
                <a:cs typeface="Avenir Next"/>
              </a:rPr>
              <a:t>03</a:t>
            </a:r>
          </a:p>
        </p:txBody>
      </p:sp>
    </p:spTree>
    <p:extLst>
      <p:ext uri="{BB962C8B-B14F-4D97-AF65-F5344CB8AC3E}">
        <p14:creationId xmlns:p14="http://schemas.microsoft.com/office/powerpoint/2010/main" val="876601872"/>
      </p:ext>
    </p:extLst>
  </p:cSld>
</p:sld>
</file>

<file path=ppt/slides/slide4.xml><?xml version="1.0" encoding="utf-8"?>
<p:sld xmlns:p="http://schemas.openxmlformats.org/presentationml/2006/main">
  <p:cSld>
    <p:bg>
      <p:bgPr>
        <a:solidFill xmlns:a="http://schemas.openxmlformats.org/drawingml/2006/main">
          <a:srgbClr val="F5F3EC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BE0C7AD8-68D5-43FA-AB7D-D6D9ECE9CAE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361950"/>
            <a:ext cx="1028700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2550" b="1">
                <a:solidFill>
                  <a:srgbClr val="10231D"/>
                </a:solidFill>
                <a:latin typeface="Avenir Next"/>
                <a:ea typeface="Avenir Next"/>
                <a:cs typeface="Avenir Next"/>
              </a:defRPr>
            </a:defPPr>
          </a:lstStyle>
          <a:p xmlns:a="http://schemas.openxmlformats.org/drawingml/2006/main">
            <a:pPr>
              <a:defRPr sz="2550" b="1">
                <a:solidFill>
                  <a:srgbClr val="10231D"/>
                </a:solidFill>
                <a:latin typeface="Avenir Next"/>
                <a:ea typeface="Avenir Next"/>
                <a:cs typeface="Avenir Next"/>
              </a:defRPr>
            </a:pPr>
            <a:r>
              <a:rPr sz="2550" b="1">
                <a:solidFill>
                  <a:srgbClr val="10231D"/>
                </a:solidFill>
                <a:latin typeface="Avenir Next"/>
                <a:ea typeface="Avenir Next"/>
                <a:cs typeface="Avenir Next"/>
              </a:rPr>
              <a:t>CI/CD pipeline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94243B2D-7546-478D-9799-8B8A608A768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838200"/>
            <a:ext cx="102870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200" b="0">
                <a:solidFill>
                  <a:srgbClr val="60706A"/>
                </a:solidFill>
                <a:latin typeface="Avenir Next"/>
                <a:ea typeface="Avenir Next"/>
                <a:cs typeface="Avenir Next"/>
              </a:defRPr>
            </a:defPPr>
          </a:lstStyle>
          <a:p xmlns:a="http://schemas.openxmlformats.org/drawingml/2006/main">
            <a:pPr>
              <a:defRPr sz="1200" b="0">
                <a:solidFill>
                  <a:srgbClr val="60706A"/>
                </a:solidFill>
                <a:latin typeface="Avenir Next"/>
                <a:ea typeface="Avenir Next"/>
                <a:cs typeface="Avenir Next"/>
              </a:defRPr>
            </a:pPr>
            <a:r>
              <a:rPr sz="1200" b="0">
                <a:solidFill>
                  <a:srgbClr val="60706A"/>
                </a:solidFill>
                <a:latin typeface="Avenir Next"/>
                <a:ea typeface="Avenir Next"/>
                <a:cs typeface="Avenir Next"/>
              </a:rPr>
              <a:t>Every push runs tests, builds and scans images, publishes artifacts, and verifies a Helm deployment on kind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51F5B81A-63C4-4690-B6D2-1B80EDB0D39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1181100"/>
            <a:ext cx="10934700" cy="285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6F45E"/>
          </a:solidFill>
          <a:ln xmlns:a="http://schemas.openxmlformats.org/drawingml/2006/main" w="0">
            <a:solidFill>
              <a:srgbClr val="C6F45E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15080D3F-2C8E-40D2-B695-990F530BBC6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57275" y="1514475"/>
            <a:ext cx="10077450" cy="4476750"/>
          </a:xfrm>
          <a:prstGeom xmlns:a="http://schemas.openxmlformats.org/drawingml/2006/main" prst="roundRect">
            <a:avLst>
              <a:gd name="adj" fmla="val 1702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CAD1C9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4"/>
          <a:fontRef xmlns:a="http://schemas.openxmlformats.org/drawingml/2006/main" idx="major"/>
        </p:style>
      </p:sp>
      <p:pic>
        <p:nvPic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09C1E402-B39F-4015-8F2C-F96D269E12EF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b5fb0bc637c04a88"/>
          <a:stretch xmlns:a="http://schemas.openxmlformats.org/drawingml/2006/main"/>
        </p:blipFill>
        <p:spPr>
          <a:xfrm xmlns:a="http://schemas.openxmlformats.org/drawingml/2006/main">
            <a:off x="2757493" y="1562100"/>
            <a:ext cx="6677015" cy="4381500"/>
          </a:xfrm>
          <a:prstGeom xmlns:a="http://schemas.openxmlformats.org/drawingml/2006/main" prst="roundRect">
            <a:avLst>
              <a:gd name="adj" fmla="val 1304"/>
            </a:avLst>
          </a:prstGeom>
        </p:spPr>
      </p:pic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EFC3DBE9-926A-4FEE-81FD-78DABC1A047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19250" y="6076950"/>
            <a:ext cx="89535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350" b="1">
                <a:solidFill>
                  <a:srgbClr val="2C8060"/>
                </a:solidFill>
                <a:latin typeface="Avenir Next"/>
                <a:ea typeface="Avenir Next"/>
                <a:cs typeface="Avenir Next"/>
              </a:defRPr>
            </a:defPPr>
          </a:lstStyle>
          <a:p xmlns:a="http://schemas.openxmlformats.org/drawingml/2006/main">
            <a:pPr>
              <a:defRPr sz="1350" b="1">
                <a:solidFill>
                  <a:srgbClr val="2C8060"/>
                </a:solidFill>
                <a:latin typeface="Avenir Next"/>
                <a:ea typeface="Avenir Next"/>
                <a:cs typeface="Avenir Next"/>
              </a:defRPr>
            </a:pPr>
            <a:r>
              <a:rPr sz="1350" b="1">
                <a:solidFill>
                  <a:srgbClr val="2C8060"/>
                </a:solidFill>
                <a:latin typeface="Avenir Next"/>
                <a:ea typeface="Avenir Next"/>
                <a:cs typeface="Avenir Next"/>
              </a:rPr>
              <a:t>All three jobs completed successfully: test, build-scan-push, and deploy-to-kind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2D9EE840-0071-4583-BCD7-4BA2F7F0957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6477000"/>
            <a:ext cx="28575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825" b="0">
                <a:solidFill>
                  <a:srgbClr val="60706A"/>
                </a:solidFill>
                <a:latin typeface="Avenir Next"/>
                <a:ea typeface="Avenir Next"/>
                <a:cs typeface="Avenir Next"/>
              </a:defRPr>
            </a:defPPr>
          </a:lstStyle>
          <a:p xmlns:a="http://schemas.openxmlformats.org/drawingml/2006/main">
            <a:pPr>
              <a:defRPr sz="825" b="0">
                <a:solidFill>
                  <a:srgbClr val="60706A"/>
                </a:solidFill>
                <a:latin typeface="Avenir Next"/>
                <a:ea typeface="Avenir Next"/>
                <a:cs typeface="Avenir Next"/>
              </a:defRPr>
            </a:pPr>
            <a:r>
              <a:rPr sz="825" b="0">
                <a:solidFill>
                  <a:srgbClr val="60706A"/>
                </a:solidFill>
                <a:latin typeface="Avenir Next"/>
                <a:ea typeface="Avenir Next"/>
                <a:cs typeface="Avenir Next"/>
              </a:rPr>
              <a:t>DevOps Revision Tracker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2A42B281-E900-49C6-87D2-DEB0D8739F1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0" y="6448425"/>
            <a:ext cx="5143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900" b="1">
                <a:solidFill>
                  <a:srgbClr val="2C8060"/>
                </a:solidFill>
                <a:latin typeface="Avenir Next"/>
                <a:ea typeface="Avenir Next"/>
                <a:cs typeface="Avenir Next"/>
              </a:defRPr>
            </a:defPPr>
          </a:lstStyle>
          <a:p xmlns:a="http://schemas.openxmlformats.org/drawingml/2006/main">
            <a:pPr>
              <a:defRPr sz="900" b="1">
                <a:solidFill>
                  <a:srgbClr val="2C8060"/>
                </a:solidFill>
                <a:latin typeface="Avenir Next"/>
                <a:ea typeface="Avenir Next"/>
                <a:cs typeface="Avenir Next"/>
              </a:defRPr>
            </a:pPr>
            <a:r>
              <a:rPr sz="900" b="1">
                <a:solidFill>
                  <a:srgbClr val="2C8060"/>
                </a:solidFill>
                <a:latin typeface="Avenir Next"/>
                <a:ea typeface="Avenir Next"/>
                <a:cs typeface="Avenir Next"/>
              </a:rPr>
              <a:t>04</a:t>
            </a:r>
          </a:p>
        </p:txBody>
      </p:sp>
    </p:spTree>
    <p:extLst>
      <p:ext uri="{BB962C8B-B14F-4D97-AF65-F5344CB8AC3E}">
        <p14:creationId xmlns:p14="http://schemas.microsoft.com/office/powerpoint/2010/main" val="762422737"/>
      </p:ext>
    </p:extLst>
  </p:cSld>
</p:sld>
</file>

<file path=ppt/slides/slide5.xml><?xml version="1.0" encoding="utf-8"?>
<p:sld xmlns:p="http://schemas.openxmlformats.org/presentationml/2006/main">
  <p:cSld>
    <p:bg>
      <p:bgPr>
        <a:solidFill xmlns:a="http://schemas.openxmlformats.org/drawingml/2006/main">
          <a:srgbClr val="F5F3EC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6D16F643-1635-4D5E-B0AD-2E4B30B55FD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361950"/>
            <a:ext cx="1028700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2550" b="1">
                <a:solidFill>
                  <a:srgbClr val="10231D"/>
                </a:solidFill>
                <a:latin typeface="Avenir Next"/>
                <a:ea typeface="Avenir Next"/>
                <a:cs typeface="Avenir Next"/>
              </a:defRPr>
            </a:defPPr>
          </a:lstStyle>
          <a:p xmlns:a="http://schemas.openxmlformats.org/drawingml/2006/main">
            <a:pPr>
              <a:defRPr sz="2550" b="1">
                <a:solidFill>
                  <a:srgbClr val="10231D"/>
                </a:solidFill>
                <a:latin typeface="Avenir Next"/>
                <a:ea typeface="Avenir Next"/>
                <a:cs typeface="Avenir Next"/>
              </a:defRPr>
            </a:pPr>
            <a:r>
              <a:rPr sz="2550" b="1">
                <a:solidFill>
                  <a:srgbClr val="10231D"/>
                </a:solidFill>
                <a:latin typeface="Avenir Next"/>
                <a:ea typeface="Avenir Next"/>
                <a:cs typeface="Avenir Next"/>
              </a:rPr>
              <a:t>Infrastructure and Kubernetes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ADFF8D13-CE16-4917-874D-9984B9D6C57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838200"/>
            <a:ext cx="102870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200" b="0">
                <a:solidFill>
                  <a:srgbClr val="60706A"/>
                </a:solidFill>
                <a:latin typeface="Avenir Next"/>
                <a:ea typeface="Avenir Next"/>
                <a:cs typeface="Avenir Next"/>
              </a:defRPr>
            </a:defPPr>
          </a:lstStyle>
          <a:p xmlns:a="http://schemas.openxmlformats.org/drawingml/2006/main">
            <a:pPr>
              <a:defRPr sz="1200" b="0">
                <a:solidFill>
                  <a:srgbClr val="60706A"/>
                </a:solidFill>
                <a:latin typeface="Avenir Next"/>
                <a:ea typeface="Avenir Next"/>
                <a:cs typeface="Avenir Next"/>
              </a:defRPr>
            </a:pPr>
            <a:r>
              <a:rPr sz="1200" b="0">
                <a:solidFill>
                  <a:srgbClr val="60706A"/>
                </a:solidFill>
                <a:latin typeface="Avenir Next"/>
                <a:ea typeface="Avenir Next"/>
                <a:cs typeface="Avenir Next"/>
              </a:rPr>
              <a:t>Terraform validates the AWS design; Helm deploys five healthy application pods to the local cluster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6848AF87-7038-4026-A13A-2DD79909F7F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1181100"/>
            <a:ext cx="10934700" cy="285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6F45E"/>
          </a:solidFill>
          <a:ln xmlns:a="http://schemas.openxmlformats.org/drawingml/2006/main" w="0">
            <a:solidFill>
              <a:srgbClr val="C6F45E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709E2099-A89C-4B62-B83B-01CB35637B7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81025" y="1457325"/>
            <a:ext cx="5810250" cy="4438650"/>
          </a:xfrm>
          <a:prstGeom xmlns:a="http://schemas.openxmlformats.org/drawingml/2006/main" prst="roundRect">
            <a:avLst>
              <a:gd name="adj" fmla="val 1717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CAD1C9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4"/>
          <a:fontRef xmlns:a="http://schemas.openxmlformats.org/drawingml/2006/main" idx="major"/>
        </p:style>
      </p:sp>
      <p:pic>
        <p:nvPic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7399D482-579B-439C-A0A1-AD1B75191F73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77733f04f7ed427a"/>
          <a:stretch xmlns:a="http://schemas.openxmlformats.org/drawingml/2006/main"/>
        </p:blipFill>
        <p:spPr>
          <a:xfrm xmlns:a="http://schemas.openxmlformats.org/drawingml/2006/main">
            <a:off x="628650" y="2021738"/>
            <a:ext cx="5715000" cy="3309825"/>
          </a:xfrm>
          <a:prstGeom xmlns:a="http://schemas.openxmlformats.org/drawingml/2006/main" prst="roundRect">
            <a:avLst>
              <a:gd name="adj" fmla="val 1316"/>
            </a:avLst>
          </a:prstGeom>
        </p:spPr>
      </p:pic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0181ACF1-6895-40E0-A802-B7708FA8982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19875" y="1457325"/>
            <a:ext cx="4991100" cy="2171700"/>
          </a:xfrm>
          <a:prstGeom xmlns:a="http://schemas.openxmlformats.org/drawingml/2006/main" prst="roundRect">
            <a:avLst>
              <a:gd name="adj" fmla="val 3509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CAD1C9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4"/>
          <a:fontRef xmlns:a="http://schemas.openxmlformats.org/drawingml/2006/main" idx="major"/>
        </p:style>
      </p:sp>
      <p:pic>
        <p:nvPic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2749840B-6D8D-40E9-BFD2-D4992D3B7238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918547be6fa44c69"/>
          <a:stretch xmlns:a="http://schemas.openxmlformats.org/drawingml/2006/main"/>
        </p:blipFill>
        <p:spPr>
          <a:xfrm xmlns:a="http://schemas.openxmlformats.org/drawingml/2006/main">
            <a:off x="6667500" y="2064159"/>
            <a:ext cx="4895850" cy="958032"/>
          </a:xfrm>
          <a:prstGeom xmlns:a="http://schemas.openxmlformats.org/drawingml/2006/main" prst="roundRect">
            <a:avLst>
              <a:gd name="adj" fmla="val 2752"/>
            </a:avLst>
          </a:prstGeom>
        </p:spPr>
      </p:pic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6C90E709-E03D-45CB-AF7C-5F546B819E1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19875" y="3857625"/>
            <a:ext cx="4991100" cy="2038350"/>
          </a:xfrm>
          <a:prstGeom xmlns:a="http://schemas.openxmlformats.org/drawingml/2006/main" prst="roundRect">
            <a:avLst>
              <a:gd name="adj" fmla="val 3738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CAD1C9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4"/>
          <a:fontRef xmlns:a="http://schemas.openxmlformats.org/drawingml/2006/main" idx="major"/>
        </p:style>
      </p:sp>
      <p:pic>
        <p:nvPic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E5FCFD3F-6071-4D6B-8D9E-C357FBD64B02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548f3688da094d0b"/>
          <a:stretch xmlns:a="http://schemas.openxmlformats.org/drawingml/2006/main"/>
        </p:blipFill>
        <p:spPr>
          <a:xfrm xmlns:a="http://schemas.openxmlformats.org/drawingml/2006/main">
            <a:off x="6667500" y="4585802"/>
            <a:ext cx="4895850" cy="581997"/>
          </a:xfrm>
          <a:prstGeom xmlns:a="http://schemas.openxmlformats.org/drawingml/2006/main" prst="roundRect">
            <a:avLst>
              <a:gd name="adj" fmla="val 2941"/>
            </a:avLst>
          </a:prstGeom>
        </p:spPr>
      </p:pic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477BFCDC-C26C-45FD-A0DF-292EF123C1A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6000750"/>
            <a:ext cx="57150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200" b="0">
                <a:solidFill>
                  <a:srgbClr val="60706A"/>
                </a:solidFill>
                <a:latin typeface="Avenir Next"/>
                <a:ea typeface="Avenir Next"/>
                <a:cs typeface="Avenir Next"/>
              </a:defRPr>
            </a:defPPr>
          </a:lstStyle>
          <a:p xmlns:a="http://schemas.openxmlformats.org/drawingml/2006/main">
            <a:pPr>
              <a:defRPr sz="1200" b="0">
                <a:solidFill>
                  <a:srgbClr val="60706A"/>
                </a:solidFill>
                <a:latin typeface="Avenir Next"/>
                <a:ea typeface="Avenir Next"/>
                <a:cs typeface="Avenir Next"/>
              </a:defRPr>
            </a:pPr>
            <a:r>
              <a:rPr sz="1200" b="0">
                <a:solidFill>
                  <a:srgbClr val="60706A"/>
                </a:solidFill>
                <a:latin typeface="Avenir Next"/>
                <a:ea typeface="Avenir Next"/>
                <a:cs typeface="Avenir Next"/>
              </a:rPr>
              <a:t>VPC and EKS configuration validates without provisioning paid cloud resources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74BCA67C-DF4C-4BC1-A58C-A567D032229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6477000"/>
            <a:ext cx="28575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825" b="0">
                <a:solidFill>
                  <a:srgbClr val="60706A"/>
                </a:solidFill>
                <a:latin typeface="Avenir Next"/>
                <a:ea typeface="Avenir Next"/>
                <a:cs typeface="Avenir Next"/>
              </a:defRPr>
            </a:defPPr>
          </a:lstStyle>
          <a:p xmlns:a="http://schemas.openxmlformats.org/drawingml/2006/main">
            <a:pPr>
              <a:defRPr sz="825" b="0">
                <a:solidFill>
                  <a:srgbClr val="60706A"/>
                </a:solidFill>
                <a:latin typeface="Avenir Next"/>
                <a:ea typeface="Avenir Next"/>
                <a:cs typeface="Avenir Next"/>
              </a:defRPr>
            </a:pPr>
            <a:r>
              <a:rPr sz="825" b="0">
                <a:solidFill>
                  <a:srgbClr val="60706A"/>
                </a:solidFill>
                <a:latin typeface="Avenir Next"/>
                <a:ea typeface="Avenir Next"/>
                <a:cs typeface="Avenir Next"/>
              </a:rPr>
              <a:t>DevOps Revision Tracker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ECC3A6AB-02BD-4BB8-B8AC-2BCBAE59D3F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0" y="6448425"/>
            <a:ext cx="5143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900" b="1">
                <a:solidFill>
                  <a:srgbClr val="2C8060"/>
                </a:solidFill>
                <a:latin typeface="Avenir Next"/>
                <a:ea typeface="Avenir Next"/>
                <a:cs typeface="Avenir Next"/>
              </a:defRPr>
            </a:defPPr>
          </a:lstStyle>
          <a:p xmlns:a="http://schemas.openxmlformats.org/drawingml/2006/main">
            <a:pPr>
              <a:defRPr sz="900" b="1">
                <a:solidFill>
                  <a:srgbClr val="2C8060"/>
                </a:solidFill>
                <a:latin typeface="Avenir Next"/>
                <a:ea typeface="Avenir Next"/>
                <a:cs typeface="Avenir Next"/>
              </a:defRPr>
            </a:pPr>
            <a:r>
              <a:rPr sz="900" b="1">
                <a:solidFill>
                  <a:srgbClr val="2C8060"/>
                </a:solidFill>
                <a:latin typeface="Avenir Next"/>
                <a:ea typeface="Avenir Next"/>
                <a:cs typeface="Avenir Next"/>
              </a:rPr>
              <a:t>05</a:t>
            </a:r>
          </a:p>
        </p:txBody>
      </p:sp>
    </p:spTree>
    <p:extLst>
      <p:ext uri="{BB962C8B-B14F-4D97-AF65-F5344CB8AC3E}">
        <p14:creationId xmlns:p14="http://schemas.microsoft.com/office/powerpoint/2010/main" val="475968521"/>
      </p:ext>
    </p:extLst>
  </p:cSld>
</p:sld>
</file>

<file path=ppt/slides/slide6.xml><?xml version="1.0" encoding="utf-8"?>
<p:sld xmlns:p="http://schemas.openxmlformats.org/presentationml/2006/main">
  <p:cSld>
    <p:bg>
      <p:bgPr>
        <a:solidFill xmlns:a="http://schemas.openxmlformats.org/drawingml/2006/main">
          <a:srgbClr val="F5F3EC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942C4E55-DA91-4B24-B8C7-4C35BD746E9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361950"/>
            <a:ext cx="1028700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2550" b="1">
                <a:solidFill>
                  <a:srgbClr val="10231D"/>
                </a:solidFill>
                <a:latin typeface="Avenir Next"/>
                <a:ea typeface="Avenir Next"/>
                <a:cs typeface="Avenir Next"/>
              </a:defRPr>
            </a:defPPr>
          </a:lstStyle>
          <a:p xmlns:a="http://schemas.openxmlformats.org/drawingml/2006/main">
            <a:pPr>
              <a:defRPr sz="2550" b="1">
                <a:solidFill>
                  <a:srgbClr val="10231D"/>
                </a:solidFill>
                <a:latin typeface="Avenir Next"/>
                <a:ea typeface="Avenir Next"/>
                <a:cs typeface="Avenir Next"/>
              </a:defRPr>
            </a:pPr>
            <a:r>
              <a:rPr sz="2550" b="1">
                <a:solidFill>
                  <a:srgbClr val="10231D"/>
                </a:solidFill>
                <a:latin typeface="Avenir Next"/>
                <a:ea typeface="Avenir Next"/>
                <a:cs typeface="Avenir Next"/>
              </a:rPr>
              <a:t>Monitoring dashboard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197A51CC-CDB0-41A3-A67C-990C72C04AA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838200"/>
            <a:ext cx="102870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200" b="0">
                <a:solidFill>
                  <a:srgbClr val="60706A"/>
                </a:solidFill>
                <a:latin typeface="Avenir Next"/>
                <a:ea typeface="Avenir Next"/>
                <a:cs typeface="Avenir Next"/>
              </a:defRPr>
            </a:defPPr>
          </a:lstStyle>
          <a:p xmlns:a="http://schemas.openxmlformats.org/drawingml/2006/main">
            <a:pPr>
              <a:defRPr sz="1200" b="0">
                <a:solidFill>
                  <a:srgbClr val="60706A"/>
                </a:solidFill>
                <a:latin typeface="Avenir Next"/>
                <a:ea typeface="Avenir Next"/>
                <a:cs typeface="Avenir Next"/>
              </a:defRPr>
            </a:pPr>
            <a:r>
              <a:rPr sz="1200" b="0">
                <a:solidFill>
                  <a:srgbClr val="60706A"/>
                </a:solidFill>
                <a:latin typeface="Avenir Next"/>
                <a:ea typeface="Avenir Next"/>
                <a:cs typeface="Avenir Next"/>
              </a:rPr>
              <a:t>Prometheus scrapes both replicas; Grafana displays health, traffic, CPU, memory, latency, and response status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2BEA7AE7-F302-4CF3-AE35-049F06F71FC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1181100"/>
            <a:ext cx="10934700" cy="285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6F45E"/>
          </a:solidFill>
          <a:ln xmlns:a="http://schemas.openxmlformats.org/drawingml/2006/main" w="0">
            <a:solidFill>
              <a:srgbClr val="C6F45E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7487AFD4-A783-4B58-8E5E-CFA6F15C92F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8675" y="1381125"/>
            <a:ext cx="10534650" cy="4572000"/>
          </a:xfrm>
          <a:prstGeom xmlns:a="http://schemas.openxmlformats.org/drawingml/2006/main" prst="roundRect">
            <a:avLst>
              <a:gd name="adj" fmla="val 1667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CAD1C9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4"/>
          <a:fontRef xmlns:a="http://schemas.openxmlformats.org/drawingml/2006/main" idx="major"/>
        </p:style>
      </p:sp>
      <p:pic>
        <p:nvPic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BE6456E7-BC67-4AE4-8A1D-6C07ABEB4893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941a43f716d74c12"/>
          <a:stretch xmlns:a="http://schemas.openxmlformats.org/drawingml/2006/main"/>
        </p:blipFill>
        <p:spPr>
          <a:xfrm xmlns:a="http://schemas.openxmlformats.org/drawingml/2006/main">
            <a:off x="2654147" y="1428750"/>
            <a:ext cx="6883706" cy="4476750"/>
          </a:xfrm>
          <a:prstGeom xmlns:a="http://schemas.openxmlformats.org/drawingml/2006/main" prst="roundRect">
            <a:avLst>
              <a:gd name="adj" fmla="val 1277"/>
            </a:avLst>
          </a:prstGeom>
        </p:spPr>
      </p:pic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01F03097-C6E0-4F59-9F35-31A68D8F18C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714500" y="6048375"/>
            <a:ext cx="87630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275" b="1">
                <a:solidFill>
                  <a:srgbClr val="2C8060"/>
                </a:solidFill>
                <a:latin typeface="Avenir Next"/>
                <a:ea typeface="Avenir Next"/>
                <a:cs typeface="Avenir Next"/>
              </a:defRPr>
            </a:defPPr>
          </a:lstStyle>
          <a:p xmlns:a="http://schemas.openxmlformats.org/drawingml/2006/main">
            <a:pPr>
              <a:defRPr sz="1275" b="1">
                <a:solidFill>
                  <a:srgbClr val="2C8060"/>
                </a:solidFill>
                <a:latin typeface="Avenir Next"/>
                <a:ea typeface="Avenir Next"/>
                <a:cs typeface="Avenir Next"/>
              </a:defRPr>
            </a:pPr>
            <a:r>
              <a:rPr sz="1275" b="1">
                <a:solidFill>
                  <a:srgbClr val="2C8060"/>
                </a:solidFill>
                <a:latin typeface="Avenir Next"/>
                <a:ea typeface="Avenir Next"/>
                <a:cs typeface="Avenir Next"/>
              </a:rPr>
              <a:t>Memory is 166 MiB, below the 500 MiB warning threshold; both application targets are UP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6BBE4F1E-BD00-446A-92D4-460D93487EC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6477000"/>
            <a:ext cx="28575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825" b="0">
                <a:solidFill>
                  <a:srgbClr val="60706A"/>
                </a:solidFill>
                <a:latin typeface="Avenir Next"/>
                <a:ea typeface="Avenir Next"/>
                <a:cs typeface="Avenir Next"/>
              </a:defRPr>
            </a:defPPr>
          </a:lstStyle>
          <a:p xmlns:a="http://schemas.openxmlformats.org/drawingml/2006/main">
            <a:pPr>
              <a:defRPr sz="825" b="0">
                <a:solidFill>
                  <a:srgbClr val="60706A"/>
                </a:solidFill>
                <a:latin typeface="Avenir Next"/>
                <a:ea typeface="Avenir Next"/>
                <a:cs typeface="Avenir Next"/>
              </a:defRPr>
            </a:pPr>
            <a:r>
              <a:rPr sz="825" b="0">
                <a:solidFill>
                  <a:srgbClr val="60706A"/>
                </a:solidFill>
                <a:latin typeface="Avenir Next"/>
                <a:ea typeface="Avenir Next"/>
                <a:cs typeface="Avenir Next"/>
              </a:rPr>
              <a:t>DevOps Revision Tracker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8D785651-3145-4F03-9F1C-E8BFDDD0F73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0" y="6448425"/>
            <a:ext cx="5143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900" b="1">
                <a:solidFill>
                  <a:srgbClr val="2C8060"/>
                </a:solidFill>
                <a:latin typeface="Avenir Next"/>
                <a:ea typeface="Avenir Next"/>
                <a:cs typeface="Avenir Next"/>
              </a:defRPr>
            </a:defPPr>
          </a:lstStyle>
          <a:p xmlns:a="http://schemas.openxmlformats.org/drawingml/2006/main">
            <a:pPr>
              <a:defRPr sz="900" b="1">
                <a:solidFill>
                  <a:srgbClr val="2C8060"/>
                </a:solidFill>
                <a:latin typeface="Avenir Next"/>
                <a:ea typeface="Avenir Next"/>
                <a:cs typeface="Avenir Next"/>
              </a:defRPr>
            </a:pPr>
            <a:r>
              <a:rPr sz="900" b="1">
                <a:solidFill>
                  <a:srgbClr val="2C8060"/>
                </a:solidFill>
                <a:latin typeface="Avenir Next"/>
                <a:ea typeface="Avenir Next"/>
                <a:cs typeface="Avenir Next"/>
              </a:rPr>
              <a:t>06</a:t>
            </a:r>
          </a:p>
        </p:txBody>
      </p:sp>
    </p:spTree>
    <p:extLst>
      <p:ext uri="{BB962C8B-B14F-4D97-AF65-F5344CB8AC3E}">
        <p14:creationId xmlns:p14="http://schemas.microsoft.com/office/powerpoint/2010/main" val="1742057133"/>
      </p:ext>
    </p:extLst>
  </p:cSld>
</p:sld>
</file>

<file path=ppt/slides/slide7.xml><?xml version="1.0" encoding="utf-8"?>
<p:sld xmlns:p="http://schemas.openxmlformats.org/presentationml/2006/main">
  <p:cSld>
    <p:bg>
      <p:bgPr>
        <a:solidFill xmlns:a="http://schemas.openxmlformats.org/drawingml/2006/main">
          <a:srgbClr val="F5F3EC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98E459F2-559D-4EEE-B66A-EE1DB72DEEC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361950"/>
            <a:ext cx="1028700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2550" b="1">
                <a:solidFill>
                  <a:srgbClr val="10231D"/>
                </a:solidFill>
                <a:latin typeface="Avenir Next"/>
                <a:ea typeface="Avenir Next"/>
                <a:cs typeface="Avenir Next"/>
              </a:defRPr>
            </a:defPPr>
          </a:lstStyle>
          <a:p xmlns:a="http://schemas.openxmlformats.org/drawingml/2006/main">
            <a:pPr>
              <a:defRPr sz="2550" b="1">
                <a:solidFill>
                  <a:srgbClr val="10231D"/>
                </a:solidFill>
                <a:latin typeface="Avenir Next"/>
                <a:ea typeface="Avenir Next"/>
                <a:cs typeface="Avenir Next"/>
              </a:defRPr>
            </a:pPr>
            <a:r>
              <a:rPr sz="2550" b="1">
                <a:solidFill>
                  <a:srgbClr val="10231D"/>
                </a:solidFill>
                <a:latin typeface="Avenir Next"/>
                <a:ea typeface="Avenir Next"/>
                <a:cs typeface="Avenir Next"/>
              </a:rPr>
              <a:t>Alerts and logs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A3F0415F-2416-44E3-BC71-95B167D6888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838200"/>
            <a:ext cx="102870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200" b="0">
                <a:solidFill>
                  <a:srgbClr val="60706A"/>
                </a:solidFill>
                <a:latin typeface="Avenir Next"/>
                <a:ea typeface="Avenir Next"/>
                <a:cs typeface="Avenir Next"/>
              </a:defRPr>
            </a:defPPr>
          </a:lstStyle>
          <a:p xmlns:a="http://schemas.openxmlformats.org/drawingml/2006/main">
            <a:pPr>
              <a:defRPr sz="1200" b="0">
                <a:solidFill>
                  <a:srgbClr val="60706A"/>
                </a:solidFill>
                <a:latin typeface="Avenir Next"/>
                <a:ea typeface="Avenir Next"/>
                <a:cs typeface="Avenir Next"/>
              </a:defRPr>
            </a:pPr>
            <a:r>
              <a:rPr sz="1200" b="0">
                <a:solidFill>
                  <a:srgbClr val="60706A"/>
                </a:solidFill>
                <a:latin typeface="Avenir Next"/>
                <a:ea typeface="Avenir Next"/>
                <a:cs typeface="Avenir Next"/>
              </a:rPr>
              <a:t>Prometheus detects backend availability and memory risk; Kubernetes logs provide request-level evidence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807B1647-F53D-4BAF-A4CD-C098DA95A95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1181100"/>
            <a:ext cx="10934700" cy="285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6F45E"/>
          </a:solidFill>
          <a:ln xmlns:a="http://schemas.openxmlformats.org/drawingml/2006/main" w="0">
            <a:solidFill>
              <a:srgbClr val="C6F45E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B4BD1082-D776-4081-9D91-CD82123A29E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81025" y="1476375"/>
            <a:ext cx="5372100" cy="4191000"/>
          </a:xfrm>
          <a:prstGeom xmlns:a="http://schemas.openxmlformats.org/drawingml/2006/main" prst="roundRect">
            <a:avLst>
              <a:gd name="adj" fmla="val 1818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CAD1C9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4"/>
          <a:fontRef xmlns:a="http://schemas.openxmlformats.org/drawingml/2006/main" idx="major"/>
        </p:style>
      </p:sp>
      <p:pic>
        <p:nvPic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C3675A98-696A-4E3C-B8BF-CEE7D0EF3E27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de6db4aa336c4636"/>
          <a:stretch xmlns:a="http://schemas.openxmlformats.org/drawingml/2006/main"/>
        </p:blipFill>
        <p:spPr>
          <a:xfrm xmlns:a="http://schemas.openxmlformats.org/drawingml/2006/main">
            <a:off x="628650" y="1856001"/>
            <a:ext cx="5276850" cy="3431747"/>
          </a:xfrm>
          <a:prstGeom xmlns:a="http://schemas.openxmlformats.org/drawingml/2006/main" prst="roundRect">
            <a:avLst>
              <a:gd name="adj" fmla="val 1395"/>
            </a:avLst>
          </a:prstGeom>
        </p:spPr>
      </p:pic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DFA62080-4FD0-4A3F-8D52-2BA143D9FEC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38875" y="1476375"/>
            <a:ext cx="5372100" cy="4191000"/>
          </a:xfrm>
          <a:prstGeom xmlns:a="http://schemas.openxmlformats.org/drawingml/2006/main" prst="roundRect">
            <a:avLst>
              <a:gd name="adj" fmla="val 1818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CAD1C9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4"/>
          <a:fontRef xmlns:a="http://schemas.openxmlformats.org/drawingml/2006/main" idx="major"/>
        </p:style>
      </p:sp>
      <p:pic>
        <p:nvPic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2BAB490D-E96E-48B3-B2D7-6C3AC09FBFAD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27f81f4eec8d4eea"/>
          <a:stretch xmlns:a="http://schemas.openxmlformats.org/drawingml/2006/main"/>
        </p:blipFill>
        <p:spPr>
          <a:xfrm xmlns:a="http://schemas.openxmlformats.org/drawingml/2006/main">
            <a:off x="6286500" y="2148951"/>
            <a:ext cx="5276850" cy="2845848"/>
          </a:xfrm>
          <a:prstGeom xmlns:a="http://schemas.openxmlformats.org/drawingml/2006/main" prst="roundRect">
            <a:avLst>
              <a:gd name="adj" fmla="val 1395"/>
            </a:avLst>
          </a:prstGeom>
        </p:spPr>
      </p:pic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EE81BD1D-1FB6-4C87-8CDC-EE8F3120C50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5810250"/>
            <a:ext cx="52387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275" b="1">
                <a:solidFill>
                  <a:srgbClr val="2C8060"/>
                </a:solidFill>
                <a:latin typeface="Avenir Next"/>
                <a:ea typeface="Avenir Next"/>
                <a:cs typeface="Avenir Next"/>
              </a:defRPr>
            </a:defPPr>
          </a:lstStyle>
          <a:p xmlns:a="http://schemas.openxmlformats.org/drawingml/2006/main">
            <a:pPr>
              <a:defRPr sz="1275" b="1">
                <a:solidFill>
                  <a:srgbClr val="2C8060"/>
                </a:solidFill>
                <a:latin typeface="Avenir Next"/>
                <a:ea typeface="Avenir Next"/>
                <a:cs typeface="Avenir Next"/>
              </a:defRPr>
            </a:pPr>
            <a:r>
              <a:rPr sz="1275" b="1">
                <a:solidFill>
                  <a:srgbClr val="2C8060"/>
                </a:solidFill>
                <a:latin typeface="Avenir Next"/>
                <a:ea typeface="Avenir Next"/>
                <a:cs typeface="Avenir Next"/>
              </a:rPr>
              <a:t>Both custom rules are inactive while the application is healthy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06F33DFF-8CF9-4E9A-95C4-4AEC000AC72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05550" y="5810250"/>
            <a:ext cx="5095875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275" b="1">
                <a:solidFill>
                  <a:srgbClr val="2C8060"/>
                </a:solidFill>
                <a:latin typeface="Avenir Next"/>
                <a:ea typeface="Avenir Next"/>
                <a:cs typeface="Avenir Next"/>
              </a:defRPr>
            </a:defPPr>
          </a:lstStyle>
          <a:p xmlns:a="http://schemas.openxmlformats.org/drawingml/2006/main">
            <a:pPr>
              <a:defRPr sz="1275" b="1">
                <a:solidFill>
                  <a:srgbClr val="2C8060"/>
                </a:solidFill>
                <a:latin typeface="Avenir Next"/>
                <a:ea typeface="Avenir Next"/>
                <a:cs typeface="Avenir Next"/>
              </a:defRPr>
            </a:pPr>
            <a:r>
              <a:rPr sz="1275" b="1">
                <a:solidFill>
                  <a:srgbClr val="2C8060"/>
                </a:solidFill>
                <a:latin typeface="Avenir Next"/>
                <a:ea typeface="Avenir Next"/>
                <a:cs typeface="Avenir Next"/>
              </a:rPr>
              <a:t>Health, readiness, and metrics requests return HTTP 200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F44A59DC-A18D-4567-8D9F-0AEA7AAEC7B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6477000"/>
            <a:ext cx="28575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825" b="0">
                <a:solidFill>
                  <a:srgbClr val="60706A"/>
                </a:solidFill>
                <a:latin typeface="Avenir Next"/>
                <a:ea typeface="Avenir Next"/>
                <a:cs typeface="Avenir Next"/>
              </a:defRPr>
            </a:defPPr>
          </a:lstStyle>
          <a:p xmlns:a="http://schemas.openxmlformats.org/drawingml/2006/main">
            <a:pPr>
              <a:defRPr sz="825" b="0">
                <a:solidFill>
                  <a:srgbClr val="60706A"/>
                </a:solidFill>
                <a:latin typeface="Avenir Next"/>
                <a:ea typeface="Avenir Next"/>
                <a:cs typeface="Avenir Next"/>
              </a:defRPr>
            </a:pPr>
            <a:r>
              <a:rPr sz="825" b="0">
                <a:solidFill>
                  <a:srgbClr val="60706A"/>
                </a:solidFill>
                <a:latin typeface="Avenir Next"/>
                <a:ea typeface="Avenir Next"/>
                <a:cs typeface="Avenir Next"/>
              </a:rPr>
              <a:t>DevOps Revision Tracker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2E4B690F-2A1D-4DC5-98F1-9E19FD58985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0" y="6448425"/>
            <a:ext cx="5143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900" b="1">
                <a:solidFill>
                  <a:srgbClr val="2C8060"/>
                </a:solidFill>
                <a:latin typeface="Avenir Next"/>
                <a:ea typeface="Avenir Next"/>
                <a:cs typeface="Avenir Next"/>
              </a:defRPr>
            </a:defPPr>
          </a:lstStyle>
          <a:p xmlns:a="http://schemas.openxmlformats.org/drawingml/2006/main">
            <a:pPr>
              <a:defRPr sz="900" b="1">
                <a:solidFill>
                  <a:srgbClr val="2C8060"/>
                </a:solidFill>
                <a:latin typeface="Avenir Next"/>
                <a:ea typeface="Avenir Next"/>
                <a:cs typeface="Avenir Next"/>
              </a:defRPr>
            </a:pPr>
            <a:r>
              <a:rPr sz="900" b="1">
                <a:solidFill>
                  <a:srgbClr val="2C8060"/>
                </a:solidFill>
                <a:latin typeface="Avenir Next"/>
                <a:ea typeface="Avenir Next"/>
                <a:cs typeface="Avenir Next"/>
              </a:rPr>
              <a:t>07</a:t>
            </a:r>
          </a:p>
        </p:txBody>
      </p:sp>
    </p:spTree>
    <p:extLst>
      <p:ext uri="{BB962C8B-B14F-4D97-AF65-F5344CB8AC3E}">
        <p14:creationId xmlns:p14="http://schemas.microsoft.com/office/powerpoint/2010/main" val="439309507"/>
      </p:ext>
    </p:extLst>
  </p:cSld>
</p:sld>
</file>

<file path=ppt/slides/slide8.xml><?xml version="1.0" encoding="utf-8"?>
<p:sld xmlns:p="http://schemas.openxmlformats.org/presentationml/2006/main">
  <p:cSld>
    <p:bg>
      <p:bgPr>
        <a:solidFill xmlns:a="http://schemas.openxmlformats.org/drawingml/2006/main">
          <a:srgbClr val="F5F3EC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B5C98A24-C7F4-4A9D-ABAE-8E23B4F520E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361950"/>
            <a:ext cx="1028700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2550" b="1">
                <a:solidFill>
                  <a:srgbClr val="10231D"/>
                </a:solidFill>
                <a:latin typeface="Avenir Next"/>
                <a:ea typeface="Avenir Next"/>
                <a:cs typeface="Avenir Next"/>
              </a:defRPr>
            </a:defPPr>
          </a:lstStyle>
          <a:p xmlns:a="http://schemas.openxmlformats.org/drawingml/2006/main">
            <a:pPr>
              <a:defRPr sz="2550" b="1">
                <a:solidFill>
                  <a:srgbClr val="10231D"/>
                </a:solidFill>
                <a:latin typeface="Avenir Next"/>
                <a:ea typeface="Avenir Next"/>
                <a:cs typeface="Avenir Next"/>
              </a:defRPr>
            </a:pPr>
            <a:r>
              <a:rPr sz="2550" b="1">
                <a:solidFill>
                  <a:srgbClr val="10231D"/>
                </a:solidFill>
                <a:latin typeface="Avenir Next"/>
                <a:ea typeface="Avenir Next"/>
                <a:cs typeface="Avenir Next"/>
              </a:rPr>
              <a:t>GitOps reconciliation with Argo CD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42E6F304-2EAB-400C-91D1-2ECF93E3844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838200"/>
            <a:ext cx="102870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200" b="0">
                <a:solidFill>
                  <a:srgbClr val="60706A"/>
                </a:solidFill>
                <a:latin typeface="Avenir Next"/>
                <a:ea typeface="Avenir Next"/>
                <a:cs typeface="Avenir Next"/>
              </a:defRPr>
            </a:defPPr>
          </a:lstStyle>
          <a:p xmlns:a="http://schemas.openxmlformats.org/drawingml/2006/main">
            <a:pPr>
              <a:defRPr sz="1200" b="0">
                <a:solidFill>
                  <a:srgbClr val="60706A"/>
                </a:solidFill>
                <a:latin typeface="Avenir Next"/>
                <a:ea typeface="Avenir Next"/>
                <a:cs typeface="Avenir Next"/>
              </a:defRPr>
            </a:pPr>
            <a:r>
              <a:rPr sz="1200" b="0">
                <a:solidFill>
                  <a:srgbClr val="60706A"/>
                </a:solidFill>
                <a:latin typeface="Avenir Next"/>
                <a:ea typeface="Avenir Next"/>
                <a:cs typeface="Avenir Next"/>
              </a:rPr>
              <a:t>Git defines the desired Helm state; automated sync, pruning, and self-healing keep the cluster aligned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65346BBE-C66E-4EB8-8970-1A6213EBD10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1181100"/>
            <a:ext cx="10934700" cy="285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6F45E"/>
          </a:solidFill>
          <a:ln xmlns:a="http://schemas.openxmlformats.org/drawingml/2006/main" w="0">
            <a:solidFill>
              <a:srgbClr val="C6F45E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C27533C1-2A7D-4023-9254-AAFAF7B85B8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71525" y="1400175"/>
            <a:ext cx="10648950" cy="4191000"/>
          </a:xfrm>
          <a:prstGeom xmlns:a="http://schemas.openxmlformats.org/drawingml/2006/main" prst="roundRect">
            <a:avLst>
              <a:gd name="adj" fmla="val 1818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CAD1C9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4"/>
          <a:fontRef xmlns:a="http://schemas.openxmlformats.org/drawingml/2006/main" idx="major"/>
        </p:style>
      </p:sp>
      <p:pic>
        <p:nvPic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20E770EA-C7AF-4C66-A9FB-760D315591EF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748b5bfcd54445d1"/>
          <a:stretch xmlns:a="http://schemas.openxmlformats.org/drawingml/2006/main"/>
        </p:blipFill>
        <p:spPr>
          <a:xfrm xmlns:a="http://schemas.openxmlformats.org/drawingml/2006/main">
            <a:off x="2947071" y="1447800"/>
            <a:ext cx="6297858" cy="4095750"/>
          </a:xfrm>
          <a:prstGeom xmlns:a="http://schemas.openxmlformats.org/drawingml/2006/main" prst="roundRect">
            <a:avLst>
              <a:gd name="adj" fmla="val 1395"/>
            </a:avLst>
          </a:prstGeom>
        </p:spPr>
      </p:pic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A925709E-EE51-4808-B250-88CD87AB196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981325" y="5724525"/>
            <a:ext cx="6238875" cy="609600"/>
          </a:xfrm>
          <a:prstGeom xmlns:a="http://schemas.openxmlformats.org/drawingml/2006/main" prst="roundRect">
            <a:avLst>
              <a:gd name="adj" fmla="val 12500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CAD1C9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4"/>
          <a:fontRef xmlns:a="http://schemas.openxmlformats.org/drawingml/2006/main" idx="major"/>
        </p:style>
      </p:sp>
      <p:pic>
        <p:nvPic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81EAA4E9-C6F8-4AF5-9143-1162616C92F0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69be872495844b0e"/>
          <a:stretch xmlns:a="http://schemas.openxmlformats.org/drawingml/2006/main"/>
        </p:blipFill>
        <p:spPr>
          <a:xfrm xmlns:a="http://schemas.openxmlformats.org/drawingml/2006/main">
            <a:off x="4876610" y="5772150"/>
            <a:ext cx="2448306" cy="514350"/>
          </a:xfrm>
          <a:prstGeom xmlns:a="http://schemas.openxmlformats.org/drawingml/2006/main" prst="roundRect">
            <a:avLst>
              <a:gd name="adj" fmla="val 11111"/>
            </a:avLst>
          </a:prstGeom>
        </p:spPr>
      </p:pic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9BF54559-C800-4BA0-93CF-3B0202AFBFF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6477000"/>
            <a:ext cx="28575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825" b="0">
                <a:solidFill>
                  <a:srgbClr val="60706A"/>
                </a:solidFill>
                <a:latin typeface="Avenir Next"/>
                <a:ea typeface="Avenir Next"/>
                <a:cs typeface="Avenir Next"/>
              </a:defRPr>
            </a:defPPr>
          </a:lstStyle>
          <a:p xmlns:a="http://schemas.openxmlformats.org/drawingml/2006/main">
            <a:pPr>
              <a:defRPr sz="825" b="0">
                <a:solidFill>
                  <a:srgbClr val="60706A"/>
                </a:solidFill>
                <a:latin typeface="Avenir Next"/>
                <a:ea typeface="Avenir Next"/>
                <a:cs typeface="Avenir Next"/>
              </a:defRPr>
            </a:pPr>
            <a:r>
              <a:rPr sz="825" b="0">
                <a:solidFill>
                  <a:srgbClr val="60706A"/>
                </a:solidFill>
                <a:latin typeface="Avenir Next"/>
                <a:ea typeface="Avenir Next"/>
                <a:cs typeface="Avenir Next"/>
              </a:rPr>
              <a:t>DevOps Revision Tracker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ABBF6790-F198-48D0-8C34-4411708977E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0" y="6448425"/>
            <a:ext cx="5143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900" b="1">
                <a:solidFill>
                  <a:srgbClr val="2C8060"/>
                </a:solidFill>
                <a:latin typeface="Avenir Next"/>
                <a:ea typeface="Avenir Next"/>
                <a:cs typeface="Avenir Next"/>
              </a:defRPr>
            </a:defPPr>
          </a:lstStyle>
          <a:p xmlns:a="http://schemas.openxmlformats.org/drawingml/2006/main">
            <a:pPr>
              <a:defRPr sz="900" b="1">
                <a:solidFill>
                  <a:srgbClr val="2C8060"/>
                </a:solidFill>
                <a:latin typeface="Avenir Next"/>
                <a:ea typeface="Avenir Next"/>
                <a:cs typeface="Avenir Next"/>
              </a:defRPr>
            </a:pPr>
            <a:r>
              <a:rPr sz="900" b="1">
                <a:solidFill>
                  <a:srgbClr val="2C8060"/>
                </a:solidFill>
                <a:latin typeface="Avenir Next"/>
                <a:ea typeface="Avenir Next"/>
                <a:cs typeface="Avenir Next"/>
              </a:rPr>
              <a:t>08</a:t>
            </a:r>
          </a:p>
        </p:txBody>
      </p:sp>
    </p:spTree>
    <p:extLst>
      <p:ext uri="{BB962C8B-B14F-4D97-AF65-F5344CB8AC3E}">
        <p14:creationId xmlns:p14="http://schemas.microsoft.com/office/powerpoint/2010/main" val="2129321733"/>
      </p:ext>
    </p:extLst>
  </p:cSld>
</p:sld>
</file>

<file path=ppt/slides/slide9.xml><?xml version="1.0" encoding="utf-8"?>
<p:sld xmlns:p="http://schemas.openxmlformats.org/presentationml/2006/main">
  <p:cSld>
    <p:bg>
      <p:bgPr>
        <a:solidFill xmlns:a="http://schemas.openxmlformats.org/drawingml/2006/main">
          <a:srgbClr val="0F2B23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43B8DFB1-3FB2-48DE-B1B3-D98FCC3BCF7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533400"/>
            <a:ext cx="7239000" cy="533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2850" b="1">
                <a:solidFill>
                  <a:srgbClr val="FFFFFF"/>
                </a:solidFill>
                <a:latin typeface="Avenir Next"/>
                <a:ea typeface="Avenir Next"/>
                <a:cs typeface="Avenir Next"/>
              </a:defRPr>
            </a:defPPr>
          </a:lstStyle>
          <a:p xmlns:a="http://schemas.openxmlformats.org/drawingml/2006/main">
            <a:pPr>
              <a:defRPr sz="2850" b="1">
                <a:solidFill>
                  <a:srgbClr val="FFFFFF"/>
                </a:solidFill>
                <a:latin typeface="Avenir Next"/>
                <a:ea typeface="Avenir Next"/>
                <a:cs typeface="Avenir Next"/>
              </a:defRPr>
            </a:pPr>
            <a:r>
              <a:rPr sz="2850" b="1">
                <a:solidFill>
                  <a:srgbClr val="FFFFFF"/>
                </a:solidFill>
                <a:latin typeface="Avenir Next"/>
                <a:ea typeface="Avenir Next"/>
                <a:cs typeface="Avenir Next"/>
              </a:rPr>
              <a:t>Verified outcomes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9119908F-F11E-44CD-BA0E-32CEF60C251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1162050"/>
            <a:ext cx="8572500" cy="647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575" b="0">
                <a:solidFill>
                  <a:srgbClr val="D7E1DC"/>
                </a:solidFill>
                <a:latin typeface="Avenir Next"/>
                <a:ea typeface="Avenir Next"/>
                <a:cs typeface="Avenir Next"/>
              </a:defRPr>
            </a:defPPr>
          </a:lstStyle>
          <a:p xmlns:a="http://schemas.openxmlformats.org/drawingml/2006/main">
            <a:pPr>
              <a:defRPr sz="1575" b="0">
                <a:solidFill>
                  <a:srgbClr val="D7E1DC"/>
                </a:solidFill>
                <a:latin typeface="Avenir Next"/>
                <a:ea typeface="Avenir Next"/>
                <a:cs typeface="Avenir Next"/>
              </a:defRPr>
            </a:pPr>
            <a:r>
              <a:rPr sz="1575" b="0">
                <a:solidFill>
                  <a:srgbClr val="D7E1DC"/>
                </a:solidFill>
                <a:latin typeface="Avenir Next"/>
                <a:ea typeface="Avenir Next"/>
                <a:cs typeface="Avenir Next"/>
              </a:rPr>
              <a:t>The submission connects application code, delivery automation, infrastructure, operations, and GitOps in one reproducible repository.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A79379AF-5A04-4DF2-967F-9998ABB4AC3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" y="2247900"/>
            <a:ext cx="28575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650" b="1">
                <a:solidFill>
                  <a:srgbClr val="C6F45E"/>
                </a:solidFill>
                <a:latin typeface="Avenir Next"/>
                <a:ea typeface="Avenir Next"/>
                <a:cs typeface="Avenir Next"/>
              </a:defRPr>
            </a:defPPr>
          </a:lstStyle>
          <a:p xmlns:a="http://schemas.openxmlformats.org/drawingml/2006/main">
            <a:pPr>
              <a:defRPr sz="1650" b="1">
                <a:solidFill>
                  <a:srgbClr val="C6F45E"/>
                </a:solidFill>
                <a:latin typeface="Avenir Next"/>
                <a:ea typeface="Avenir Next"/>
                <a:cs typeface="Avenir Next"/>
              </a:defRPr>
            </a:pPr>
            <a:r>
              <a:rPr sz="1650" b="1">
                <a:solidFill>
                  <a:srgbClr val="C6F45E"/>
                </a:solidFill>
                <a:latin typeface="Avenir Next"/>
                <a:ea typeface="Avenir Next"/>
                <a:cs typeface="Avenir Next"/>
              </a:rPr>
              <a:t>9 tests passed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F1A7F6F9-E6CD-4BD9-801F-7F4B54E3026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571875" y="2247900"/>
            <a:ext cx="7524750" cy="438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350" b="0">
                <a:solidFill>
                  <a:srgbClr val="D7E1DC"/>
                </a:solidFill>
                <a:latin typeface="Avenir Next"/>
                <a:ea typeface="Avenir Next"/>
                <a:cs typeface="Avenir Next"/>
              </a:defRPr>
            </a:defPPr>
          </a:lstStyle>
          <a:p xmlns:a="http://schemas.openxmlformats.org/drawingml/2006/main">
            <a:pPr>
              <a:defRPr sz="1350" b="0">
                <a:solidFill>
                  <a:srgbClr val="D7E1DC"/>
                </a:solidFill>
                <a:latin typeface="Avenir Next"/>
                <a:ea typeface="Avenir Next"/>
                <a:cs typeface="Avenir Next"/>
              </a:defRPr>
            </a:pPr>
            <a:r>
              <a:rPr sz="1350" b="0">
                <a:solidFill>
                  <a:srgbClr val="D7E1DC"/>
                </a:solidFill>
                <a:latin typeface="Avenir Next"/>
                <a:ea typeface="Avenir Next"/>
                <a:cs typeface="Avenir Next"/>
              </a:rPr>
              <a:t>FastAPI behavior and database operations verified before image creation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A6ACC6BC-F21C-4453-BF0E-6B9C4DC2FE4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" y="3048000"/>
            <a:ext cx="28575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650" b="1">
                <a:solidFill>
                  <a:srgbClr val="C6F45E"/>
                </a:solidFill>
                <a:latin typeface="Avenir Next"/>
                <a:ea typeface="Avenir Next"/>
                <a:cs typeface="Avenir Next"/>
              </a:defRPr>
            </a:defPPr>
          </a:lstStyle>
          <a:p xmlns:a="http://schemas.openxmlformats.org/drawingml/2006/main">
            <a:pPr>
              <a:defRPr sz="1650" b="1">
                <a:solidFill>
                  <a:srgbClr val="C6F45E"/>
                </a:solidFill>
                <a:latin typeface="Avenir Next"/>
                <a:ea typeface="Avenir Next"/>
                <a:cs typeface="Avenir Next"/>
              </a:defRPr>
            </a:pPr>
            <a:r>
              <a:rPr sz="1650" b="1">
                <a:solidFill>
                  <a:srgbClr val="C6F45E"/>
                </a:solidFill>
                <a:latin typeface="Avenir Next"/>
                <a:ea typeface="Avenir Next"/>
                <a:cs typeface="Avenir Next"/>
              </a:rPr>
              <a:t>2 replicas scraped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71594CA9-6150-4CC3-8FA7-C54FBCE6AB9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571875" y="3048000"/>
            <a:ext cx="7524750" cy="438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350" b="0">
                <a:solidFill>
                  <a:srgbClr val="D7E1DC"/>
                </a:solidFill>
                <a:latin typeface="Avenir Next"/>
                <a:ea typeface="Avenir Next"/>
                <a:cs typeface="Avenir Next"/>
              </a:defRPr>
            </a:defPPr>
          </a:lstStyle>
          <a:p xmlns:a="http://schemas.openxmlformats.org/drawingml/2006/main">
            <a:pPr>
              <a:defRPr sz="1350" b="0">
                <a:solidFill>
                  <a:srgbClr val="D7E1DC"/>
                </a:solidFill>
                <a:latin typeface="Avenir Next"/>
                <a:ea typeface="Avenir Next"/>
                <a:cs typeface="Avenir Next"/>
              </a:defRPr>
            </a:pPr>
            <a:r>
              <a:rPr sz="1350" b="0">
                <a:solidFill>
                  <a:srgbClr val="D7E1DC"/>
                </a:solidFill>
                <a:latin typeface="Avenir Next"/>
                <a:ea typeface="Avenir Next"/>
                <a:cs typeface="Avenir Next"/>
              </a:rPr>
              <a:t>Prometheus sees both backend targets as UP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55344F9A-6F95-4D36-BD1F-812CE5D517A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" y="3848100"/>
            <a:ext cx="28575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650" b="1">
                <a:solidFill>
                  <a:srgbClr val="C6F45E"/>
                </a:solidFill>
                <a:latin typeface="Avenir Next"/>
                <a:ea typeface="Avenir Next"/>
                <a:cs typeface="Avenir Next"/>
              </a:defRPr>
            </a:defPPr>
          </a:lstStyle>
          <a:p xmlns:a="http://schemas.openxmlformats.org/drawingml/2006/main">
            <a:pPr>
              <a:defRPr sz="1650" b="1">
                <a:solidFill>
                  <a:srgbClr val="C6F45E"/>
                </a:solidFill>
                <a:latin typeface="Avenir Next"/>
                <a:ea typeface="Avenir Next"/>
                <a:cs typeface="Avenir Next"/>
              </a:defRPr>
            </a:pPr>
            <a:r>
              <a:rPr sz="1650" b="1">
                <a:solidFill>
                  <a:srgbClr val="C6F45E"/>
                </a:solidFill>
                <a:latin typeface="Avenir Next"/>
                <a:ea typeface="Avenir Next"/>
                <a:cs typeface="Avenir Next"/>
              </a:rPr>
              <a:t>5 application pods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939D0E05-DFDB-41AD-8B2B-FD04C78507B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571875" y="3848100"/>
            <a:ext cx="7524750" cy="438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350" b="0">
                <a:solidFill>
                  <a:srgbClr val="D7E1DC"/>
                </a:solidFill>
                <a:latin typeface="Avenir Next"/>
                <a:ea typeface="Avenir Next"/>
                <a:cs typeface="Avenir Next"/>
              </a:defRPr>
            </a:defPPr>
          </a:lstStyle>
          <a:p xmlns:a="http://schemas.openxmlformats.org/drawingml/2006/main">
            <a:pPr>
              <a:defRPr sz="1350" b="0">
                <a:solidFill>
                  <a:srgbClr val="D7E1DC"/>
                </a:solidFill>
                <a:latin typeface="Avenir Next"/>
                <a:ea typeface="Avenir Next"/>
                <a:cs typeface="Avenir Next"/>
              </a:defRPr>
            </a:pPr>
            <a:r>
              <a:rPr sz="1350" b="0">
                <a:solidFill>
                  <a:srgbClr val="D7E1DC"/>
                </a:solidFill>
                <a:latin typeface="Avenir Next"/>
                <a:ea typeface="Avenir Next"/>
                <a:cs typeface="Avenir Next"/>
              </a:rPr>
              <a:t>Frontend, backend, and PostgreSQL workloads run with zero failed containers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1FEE4720-9701-42C3-9FA7-30BA404E09A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" y="4648200"/>
            <a:ext cx="28575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650" b="1">
                <a:solidFill>
                  <a:srgbClr val="C6F45E"/>
                </a:solidFill>
                <a:latin typeface="Avenir Next"/>
                <a:ea typeface="Avenir Next"/>
                <a:cs typeface="Avenir Next"/>
              </a:defRPr>
            </a:defPPr>
          </a:lstStyle>
          <a:p xmlns:a="http://schemas.openxmlformats.org/drawingml/2006/main">
            <a:pPr>
              <a:defRPr sz="1650" b="1">
                <a:solidFill>
                  <a:srgbClr val="C6F45E"/>
                </a:solidFill>
                <a:latin typeface="Avenir Next"/>
                <a:ea typeface="Avenir Next"/>
                <a:cs typeface="Avenir Next"/>
              </a:defRPr>
            </a:pPr>
            <a:r>
              <a:rPr sz="1650" b="1">
                <a:solidFill>
                  <a:srgbClr val="C6F45E"/>
                </a:solidFill>
                <a:latin typeface="Avenir Next"/>
                <a:ea typeface="Avenir Next"/>
                <a:cs typeface="Avenir Next"/>
              </a:rPr>
              <a:t>Healthy and Synced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467EDB49-A53E-4CF5-B43D-C6C4EE0FC14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571875" y="4648200"/>
            <a:ext cx="7524750" cy="438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350" b="0">
                <a:solidFill>
                  <a:srgbClr val="D7E1DC"/>
                </a:solidFill>
                <a:latin typeface="Avenir Next"/>
                <a:ea typeface="Avenir Next"/>
                <a:cs typeface="Avenir Next"/>
              </a:defRPr>
            </a:defPPr>
          </a:lstStyle>
          <a:p xmlns:a="http://schemas.openxmlformats.org/drawingml/2006/main">
            <a:pPr>
              <a:defRPr sz="1350" b="0">
                <a:solidFill>
                  <a:srgbClr val="D7E1DC"/>
                </a:solidFill>
                <a:latin typeface="Avenir Next"/>
                <a:ea typeface="Avenir Next"/>
                <a:cs typeface="Avenir Next"/>
              </a:defRPr>
            </a:pPr>
            <a:r>
              <a:rPr sz="1350" b="0">
                <a:solidFill>
                  <a:srgbClr val="D7E1DC"/>
                </a:solidFill>
                <a:latin typeface="Avenir Next"/>
                <a:ea typeface="Avenir Next"/>
                <a:cs typeface="Avenir Next"/>
              </a:rPr>
              <a:t>Argo CD continuously reconciles the Helm release from Git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4C02CBD7-F878-4101-9031-218F15F3BBE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" y="5791200"/>
            <a:ext cx="1333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975" b="1">
                <a:solidFill>
                  <a:srgbClr val="C6F45E"/>
                </a:solidFill>
                <a:latin typeface="Avenir Next"/>
                <a:ea typeface="Avenir Next"/>
                <a:cs typeface="Avenir Next"/>
              </a:defRPr>
            </a:defPPr>
          </a:lstStyle>
          <a:p xmlns:a="http://schemas.openxmlformats.org/drawingml/2006/main">
            <a:pPr>
              <a:defRPr sz="975" b="1">
                <a:solidFill>
                  <a:srgbClr val="C6F45E"/>
                </a:solidFill>
                <a:latin typeface="Avenir Next"/>
                <a:ea typeface="Avenir Next"/>
                <a:cs typeface="Avenir Next"/>
              </a:defRPr>
            </a:pPr>
            <a:r>
              <a:rPr sz="975" b="1">
                <a:solidFill>
                  <a:srgbClr val="C6F45E"/>
                </a:solidFill>
                <a:latin typeface="Avenir Next"/>
                <a:ea typeface="Avenir Next"/>
                <a:cs typeface="Avenir Next"/>
              </a:rPr>
              <a:t>Repository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FCD7441A-9964-49AA-A52F-9866FA9F76E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981200" y="5753100"/>
            <a:ext cx="49530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350" b="0">
                <a:solidFill>
                  <a:srgbClr val="FFFFFF"/>
                </a:solidFill>
                <a:latin typeface="Avenir Next"/>
                <a:ea typeface="Avenir Next"/>
                <a:cs typeface="Avenir Next"/>
              </a:defRPr>
            </a:defPPr>
          </a:lstStyle>
          <a:p xmlns:a="http://schemas.openxmlformats.org/drawingml/2006/main">
            <a:pPr>
              <a:defRPr sz="1350" b="0">
                <a:solidFill>
                  <a:srgbClr val="FFFFFF"/>
                </a:solidFill>
                <a:latin typeface="Avenir Next"/>
                <a:ea typeface="Avenir Next"/>
                <a:cs typeface="Avenir Next"/>
              </a:defRPr>
            </a:pPr>
            <a:r>
              <a:rPr sz="1350" b="0">
                <a:solidFill>
                  <a:srgbClr val="FFFFFF"/>
                </a:solidFill>
                <a:latin typeface="Avenir Next"/>
                <a:ea typeface="Avenir Next"/>
                <a:cs typeface="Avenir Next"/>
              </a:rPr>
              <a:t>github.com/WhySeriousKaif/devops-heros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197EE5B9-F822-4AB3-9D33-3B59247E067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620250" y="5619750"/>
            <a:ext cx="180975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2250" b="1">
                <a:solidFill>
                  <a:srgbClr val="C6F45E"/>
                </a:solidFill>
                <a:latin typeface="Avenir Next"/>
                <a:ea typeface="Avenir Next"/>
                <a:cs typeface="Avenir Next"/>
              </a:defRPr>
            </a:defPPr>
          </a:lstStyle>
          <a:p xmlns:a="http://schemas.openxmlformats.org/drawingml/2006/main">
            <a:pPr>
              <a:defRPr sz="2250" b="1">
                <a:solidFill>
                  <a:srgbClr val="C6F45E"/>
                </a:solidFill>
                <a:latin typeface="Avenir Next"/>
                <a:ea typeface="Avenir Next"/>
                <a:cs typeface="Avenir Next"/>
              </a:defRPr>
            </a:pPr>
            <a:r>
              <a:rPr sz="2250" b="1">
                <a:solidFill>
                  <a:srgbClr val="C6F45E"/>
                </a:solidFill>
                <a:latin typeface="Avenir Next"/>
                <a:ea typeface="Avenir Next"/>
                <a:cs typeface="Avenir Next"/>
              </a:rPr>
              <a:t>Questions</a:t>
            </a:r>
          </a:p>
        </p:txBody>
      </p:sp>
    </p:spTree>
    <p:extLst>
      <p:ext uri="{BB962C8B-B14F-4D97-AF65-F5344CB8AC3E}">
        <p14:creationId xmlns:p14="http://schemas.microsoft.com/office/powerpoint/2010/main" val="1555088496"/>
      </p:ext>
    </p:extLst>
  </p:cSld>
</p:sld>
</file>

<file path=ppt/theme/theme1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">
      <a:majorFont>
        <a:latin typeface="Aptos"/>
        <a:ea typeface=""/>
        <a:cs typeface=""/>
      </a:majorFont>
      <a:minorFont>
        <a:latin typeface="Aptos"/>
        <a:ea typeface=""/>
        <a:cs typeface="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docProps/app.xml><?xml version="1.0" encoding="utf-8"?>
<ap:Properties xmlns:ap="http://schemas.openxmlformats.org/officeDocument/2006/extended-properties">
  <ap:Application>Walnut Exporter</ap:Application>
  <ap:PresentationFormat>Converted Presentation</ap:PresentationFormat>
  <ap:Slides>0</ap:Slides>
  <ap:Notes>0</ap:Notes>
  <ap:HiddenSlides>0</ap:HiddenSlides>
  <ap:SharedDoc>false</ap:SharedDoc>
  <ap:DocSecurity>0</ap:DocSecurity>
</ap:Properties>
</file>

<file path=docProps/core.xml><?xml version="1.0" encoding="utf-8"?>
<coreProperties xmlns:dc="http://purl.org/dc/elements/1.1/" xmlns:dcterms="http://purl.org/dc/terms/" xmlns:xsi="http://www.w3.org/2001/XMLSchema-instance" xmlns="http://schemas.openxmlformats.org/package/2006/metadata/core-properties">
  <dc:creator>Walnut Exporter</dc:creator>
  <lastModifiedBy>Walnut Exporter</lastModifiedBy>
  <dc:title>Presentation</dc:title>
  <dcterms:created xsi:type="dcterms:W3CDTF">2026-10-08T21:54:50.5300000Z</dcterms:created>
  <dcterms:modified xsi:type="dcterms:W3CDTF">2026-10-08T21:54:50.5300000Z</dcterms:modified>
</coreProperties>
</file>