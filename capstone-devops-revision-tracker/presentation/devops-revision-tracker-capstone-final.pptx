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04ddec079f4dfc" /><Relationship Type="http://schemas.openxmlformats.org/officeDocument/2006/relationships/extended-properties" Target="/docProps/app.xml" Id="R17ba9a4970cd42a8" /><Relationship Type="http://schemas.openxmlformats.org/officeDocument/2006/relationships/officeDocument" Target="/ppt/presentation.xml" Id="Rd7d7a14b1c3745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a5fdf31e894d7d"/>
  </p:sldMasterIdLst>
  <p:notesMasterIdLst>
    <p:notesMasterId xmlns:r="http://schemas.openxmlformats.org/officeDocument/2006/relationships" r:id="R329344e096f24c75"/>
  </p:notesMasterIdLst>
  <p:sldIdLst>
    <p:sldId xmlns:r="http://schemas.openxmlformats.org/officeDocument/2006/relationships" id="256" r:id="R68930768bc974969"/>
    <p:sldId xmlns:r="http://schemas.openxmlformats.org/officeDocument/2006/relationships" id="257" r:id="R9a100241c5e14e7b"/>
    <p:sldId xmlns:r="http://schemas.openxmlformats.org/officeDocument/2006/relationships" id="258" r:id="R1a52f82f07e340d4"/>
    <p:sldId xmlns:r="http://schemas.openxmlformats.org/officeDocument/2006/relationships" id="259" r:id="R07de851143b54420"/>
    <p:sldId xmlns:r="http://schemas.openxmlformats.org/officeDocument/2006/relationships" id="260" r:id="R21f5debe2b5042a2"/>
    <p:sldId xmlns:r="http://schemas.openxmlformats.org/officeDocument/2006/relationships" id="261" r:id="R40ed9135c042443e"/>
    <p:sldId xmlns:r="http://schemas.openxmlformats.org/officeDocument/2006/relationships" id="262" r:id="Rfea4a8676ce14923"/>
    <p:sldId xmlns:r="http://schemas.openxmlformats.org/officeDocument/2006/relationships" id="263" r:id="R93a8715fc0e447c2"/>
    <p:sldId xmlns:r="http://schemas.openxmlformats.org/officeDocument/2006/relationships" id="264" r:id="Ra641d59ac0604052"/>
    <p:sldId xmlns:r="http://schemas.openxmlformats.org/officeDocument/2006/relationships" id="265" r:id="Rdcd0f040743d48bd"/>
    <p:sldId xmlns:r="http://schemas.openxmlformats.org/officeDocument/2006/relationships" id="266" r:id="R06a9b7d94d6645cf"/>
    <p:sldId xmlns:r="http://schemas.openxmlformats.org/officeDocument/2006/relationships" id="267" r:id="R227e8e7302db4008"/>
    <p:sldId xmlns:r="http://schemas.openxmlformats.org/officeDocument/2006/relationships" id="268" r:id="R471e502a3e264b99"/>
    <p:sldId xmlns:r="http://schemas.openxmlformats.org/officeDocument/2006/relationships" id="269" r:id="Ra0fd1a09491f4049"/>
    <p:sldId xmlns:r="http://schemas.openxmlformats.org/officeDocument/2006/relationships" id="270" r:id="Rfcedea0cc70847ef"/>
    <p:sldId xmlns:r="http://schemas.openxmlformats.org/officeDocument/2006/relationships" id="271" r:id="R653cdd1c6e6944c8"/>
    <p:sldId xmlns:r="http://schemas.openxmlformats.org/officeDocument/2006/relationships" id="272" r:id="R79f925781ca3409c"/>
    <p:sldId xmlns:r="http://schemas.openxmlformats.org/officeDocument/2006/relationships" id="273" r:id="Ra7b1d32abb2642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5b7bda20784e65" /><Relationship Type="http://schemas.openxmlformats.org/officeDocument/2006/relationships/slideMaster" Target="/ppt/slideMasters/slideMaster1.xml" Id="R3ca5fdf31e894d7d" /><Relationship Type="http://schemas.openxmlformats.org/officeDocument/2006/relationships/notesMaster" Target="/ppt/notesMasters/notesMaster1.xml" Id="R329344e096f24c75" /><Relationship Type="http://schemas.openxmlformats.org/officeDocument/2006/relationships/presProps" Target="/ppt/presProps.xml" Id="Rec3e6321968c496a" /><Relationship Type="http://schemas.openxmlformats.org/officeDocument/2006/relationships/tableStyles" Target="/ppt/tableStyles.xml" Id="Ra8513d6f3739494a" /><Relationship Type="http://schemas.openxmlformats.org/officeDocument/2006/relationships/slide" Target="/ppt/slides/slide1.xml" Id="R68930768bc974969" /><Relationship Type="http://schemas.openxmlformats.org/officeDocument/2006/relationships/slide" Target="/ppt/slides/slide2.xml" Id="R9a100241c5e14e7b" /><Relationship Type="http://schemas.openxmlformats.org/officeDocument/2006/relationships/slide" Target="/ppt/slides/slide3.xml" Id="R1a52f82f07e340d4" /><Relationship Type="http://schemas.openxmlformats.org/officeDocument/2006/relationships/slide" Target="/ppt/slides/slide4.xml" Id="R07de851143b54420" /><Relationship Type="http://schemas.openxmlformats.org/officeDocument/2006/relationships/slide" Target="/ppt/slides/slide5.xml" Id="R21f5debe2b5042a2" /><Relationship Type="http://schemas.openxmlformats.org/officeDocument/2006/relationships/slide" Target="/ppt/slides/slide6.xml" Id="R40ed9135c042443e" /><Relationship Type="http://schemas.openxmlformats.org/officeDocument/2006/relationships/slide" Target="/ppt/slides/slide7.xml" Id="Rfea4a8676ce14923" /><Relationship Type="http://schemas.openxmlformats.org/officeDocument/2006/relationships/slide" Target="/ppt/slides/slide8.xml" Id="R93a8715fc0e447c2" /><Relationship Type="http://schemas.openxmlformats.org/officeDocument/2006/relationships/slide" Target="/ppt/slides/slide9.xml" Id="Ra641d59ac0604052" /><Relationship Type="http://schemas.openxmlformats.org/officeDocument/2006/relationships/slide" Target="/ppt/slides/slide10.xml" Id="Rdcd0f040743d48bd" /><Relationship Type="http://schemas.openxmlformats.org/officeDocument/2006/relationships/slide" Target="/ppt/slides/slide11.xml" Id="R06a9b7d94d6645cf" /><Relationship Type="http://schemas.openxmlformats.org/officeDocument/2006/relationships/slide" Target="/ppt/slides/slide12.xml" Id="R227e8e7302db4008" /><Relationship Type="http://schemas.openxmlformats.org/officeDocument/2006/relationships/slide" Target="/ppt/slides/slide13.xml" Id="R471e502a3e264b99" /><Relationship Type="http://schemas.openxmlformats.org/officeDocument/2006/relationships/slide" Target="/ppt/slides/slide14.xml" Id="Ra0fd1a09491f4049" /><Relationship Type="http://schemas.openxmlformats.org/officeDocument/2006/relationships/slide" Target="/ppt/slides/slide15.xml" Id="Rfcedea0cc70847ef" /><Relationship Type="http://schemas.openxmlformats.org/officeDocument/2006/relationships/slide" Target="/ppt/slides/slide16.xml" Id="R653cdd1c6e6944c8" /><Relationship Type="http://schemas.openxmlformats.org/officeDocument/2006/relationships/slide" Target="/ppt/slides/slide17.xml" Id="R79f925781ca3409c" /><Relationship Type="http://schemas.openxmlformats.org/officeDocument/2006/relationships/slide" Target="/ppt/slides/slide18.xml" Id="Ra7b1d32abb2642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9540edf97843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e068716ea240df" /><Relationship Type="http://schemas.openxmlformats.org/officeDocument/2006/relationships/notesMaster" Target="/ppt/notesMasters/notesMaster1.xml" Id="R31dcd2bbd0a248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16ad75d3f44e73" /><Relationship Type="http://schemas.openxmlformats.org/officeDocument/2006/relationships/notesMaster" Target="/ppt/notesMasters/notesMaster1.xml" Id="Rf215cb18937f4b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942064721447f1" /><Relationship Type="http://schemas.openxmlformats.org/officeDocument/2006/relationships/notesMaster" Target="/ppt/notesMasters/notesMaster1.xml" Id="Rb3d831ff00834a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d7697c509d44ce" /><Relationship Type="http://schemas.openxmlformats.org/officeDocument/2006/relationships/notesMaster" Target="/ppt/notesMasters/notesMaster1.xml" Id="Ra4367f1c3dc542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bc30fc32c9403c" /><Relationship Type="http://schemas.openxmlformats.org/officeDocument/2006/relationships/notesMaster" Target="/ppt/notesMasters/notesMaster1.xml" Id="R9bdd988f1e584a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f23be43c9d4887" /><Relationship Type="http://schemas.openxmlformats.org/officeDocument/2006/relationships/notesMaster" Target="/ppt/notesMasters/notesMaster1.xml" Id="Rdc3171b931d64d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020ac68e96d431d" /><Relationship Type="http://schemas.openxmlformats.org/officeDocument/2006/relationships/notesMaster" Target="/ppt/notesMasters/notesMaster1.xml" Id="R612d9012a8f74e6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11b79ed7b64601" /><Relationship Type="http://schemas.openxmlformats.org/officeDocument/2006/relationships/notesMaster" Target="/ppt/notesMasters/notesMaster1.xml" Id="R953e31c127d44a4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99d9836ec04de8" /><Relationship Type="http://schemas.openxmlformats.org/officeDocument/2006/relationships/notesMaster" Target="/ppt/notesMasters/notesMaster1.xml" Id="R399fc26d5ba7451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809856f1724798" /><Relationship Type="http://schemas.openxmlformats.org/officeDocument/2006/relationships/notesMaster" Target="/ppt/notesMasters/notesMaster1.xml" Id="R63930b0ca229468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6b55b301ef416e" /><Relationship Type="http://schemas.openxmlformats.org/officeDocument/2006/relationships/notesMaster" Target="/ppt/notesMasters/notesMaster1.xml" Id="R1957a1036ffb473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4bf699778d64996" /><Relationship Type="http://schemas.openxmlformats.org/officeDocument/2006/relationships/notesMaster" Target="/ppt/notesMasters/notesMaster1.xml" Id="Rcfdc65e8076b46a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3e11c1386774f3b" /><Relationship Type="http://schemas.openxmlformats.org/officeDocument/2006/relationships/notesMaster" Target="/ppt/notesMasters/notesMaster1.xml" Id="Ra8fb254b5fbc48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db082d0a1144326" /><Relationship Type="http://schemas.openxmlformats.org/officeDocument/2006/relationships/notesMaster" Target="/ppt/notesMasters/notesMaster1.xml" Id="Rc41b06f304dd43a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4412c94ed544856" /><Relationship Type="http://schemas.openxmlformats.org/officeDocument/2006/relationships/notesMaster" Target="/ppt/notesMasters/notesMaster1.xml" Id="R9a7e155e1d8c4ff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00c2070cc714121" /><Relationship Type="http://schemas.openxmlformats.org/officeDocument/2006/relationships/notesMaster" Target="/ppt/notesMasters/notesMaster1.xml" Id="Rc1efd347647c41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13d56a6848841db" /><Relationship Type="http://schemas.openxmlformats.org/officeDocument/2006/relationships/notesMaster" Target="/ppt/notesMasters/notesMaster1.xml" Id="R87d93a9cb16a4e9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6af3132ed3045b5" /><Relationship Type="http://schemas.openxmlformats.org/officeDocument/2006/relationships/notesMaster" Target="/ppt/notesMasters/notesMaster1.xml" Id="Rf3437b09256d43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b3805c30b43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64c8b4a06f4f1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bd355a0b142e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adcbc61ddb4b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93889d2f2844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c3c181a5744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68C646-089B-4554-8FBA-F577A96B43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4D8F93D-1959-432C-8F6E-8C505409603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2C65331-156A-4952-A759-D740C1942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3092609-AD5C-415D-BD26-5644A0237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1960F92-9294-427C-919F-22C5E06869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CB1F4D-63B5-40D9-B619-958F525092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94CD2E-2787-4931-8C1B-E64B154506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7800E0-8895-4B3E-A897-B9E2F5AD7AE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1439305-C5F3-445A-A106-6F09F6F37F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E7073AD-3516-4991-B417-745E5DBE30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1c357b72e470a" /><Relationship Type="http://schemas.openxmlformats.org/officeDocument/2006/relationships/slideLayout" Target="/ppt/slideLayouts/slideLayout1.xml" Id="R4479da9c97de410b" /><Relationship Type="http://schemas.openxmlformats.org/officeDocument/2006/relationships/slideLayout" Target="/ppt/slideLayouts/slideLayout2.xml" Id="R1f6e2689fdd7463b" /><Relationship Type="http://schemas.openxmlformats.org/officeDocument/2006/relationships/slideLayout" Target="/ppt/slideLayouts/slideLayout3.xml" Id="R84fd93109bad43e2" /><Relationship Type="http://schemas.openxmlformats.org/officeDocument/2006/relationships/slideLayout" Target="/ppt/slideLayouts/slideLayout4.xml" Id="R1c2e8831b8e945ce" /><Relationship Type="http://schemas.openxmlformats.org/officeDocument/2006/relationships/slideLayout" Target="/ppt/slideLayouts/slideLayout5.xml" Id="Reab438909a6e4e45" /><Relationship Type="http://schemas.openxmlformats.org/officeDocument/2006/relationships/slideLayout" Target="/ppt/slideLayouts/slideLayout6.xml" Id="R16ac9531fe404e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79da9c97de410b"/>
    <p:sldLayoutId xmlns:r="http://schemas.openxmlformats.org/officeDocument/2006/relationships" id="2147483650" r:id="R1f6e2689fdd7463b"/>
    <p:sldLayoutId xmlns:r="http://schemas.openxmlformats.org/officeDocument/2006/relationships" id="2147483651" r:id="R84fd93109bad43e2"/>
    <p:sldLayoutId xmlns:r="http://schemas.openxmlformats.org/officeDocument/2006/relationships" id="2147483652" r:id="R1c2e8831b8e945ce"/>
    <p:sldLayoutId xmlns:r="http://schemas.openxmlformats.org/officeDocument/2006/relationships" id="2147483653" r:id="Reab438909a6e4e45"/>
    <p:sldLayoutId xmlns:r="http://schemas.openxmlformats.org/officeDocument/2006/relationships" id="2147483654" r:id="R16ac9531fe404e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4edd8bd439422b" /><Relationship Type="http://schemas.openxmlformats.org/officeDocument/2006/relationships/image" Target="/ppt/media/image.png" Id="R7eb5eccfa97141a2" /><Relationship Type="http://schemas.openxmlformats.org/officeDocument/2006/relationships/notesSlide" Target="/ppt/notesSlides/notesSlide1.xml" Id="Rcedd33886c3e46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b2b7a1fbb94719" /><Relationship Type="http://schemas.openxmlformats.org/officeDocument/2006/relationships/notesSlide" Target="/ppt/notesSlides/notesSlide2.xml" Id="Rbc1b335ff2a046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ef8be0bcd8474e" /><Relationship Type="http://schemas.openxmlformats.org/officeDocument/2006/relationships/image" Target="/ppt/media/image2.png" Id="Ra9cf57e444944fe8" /><Relationship Type="http://schemas.openxmlformats.org/officeDocument/2006/relationships/notesSlide" Target="/ppt/notesSlides/notesSlide3.xml" Id="R09d15c93d4d147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3d0fc6f8204ab6" /><Relationship Type="http://schemas.openxmlformats.org/officeDocument/2006/relationships/image" Target="/ppt/media/image3.png" Id="R923ea72af2264790" /><Relationship Type="http://schemas.openxmlformats.org/officeDocument/2006/relationships/notesSlide" Target="/ppt/notesSlides/notesSlide4.xml" Id="Rc410b1b5e3b04b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0d291fb7a14c0b" /><Relationship Type="http://schemas.openxmlformats.org/officeDocument/2006/relationships/image" Target="/ppt/media/image4.png" Id="R3e331b546b0a48d8" /><Relationship Type="http://schemas.openxmlformats.org/officeDocument/2006/relationships/notesSlide" Target="/ppt/notesSlides/notesSlide5.xml" Id="Ra852bfc2623f42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b002fc0d884e4a" /><Relationship Type="http://schemas.openxmlformats.org/officeDocument/2006/relationships/image" Target="/ppt/media/image5.png" Id="R9857ab688c294919" /><Relationship Type="http://schemas.openxmlformats.org/officeDocument/2006/relationships/notesSlide" Target="/ppt/notesSlides/notesSlide6.xml" Id="R80376589b7a6414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ffedf40e424c19" /><Relationship Type="http://schemas.openxmlformats.org/officeDocument/2006/relationships/image" Target="/ppt/media/image6.png" Id="R454ce5bd45b64614" /><Relationship Type="http://schemas.openxmlformats.org/officeDocument/2006/relationships/notesSlide" Target="/ppt/notesSlides/notesSlide7.xml" Id="R76ca028e676d44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6a62163d1f4cda" /><Relationship Type="http://schemas.openxmlformats.org/officeDocument/2006/relationships/image" Target="/ppt/media/image7.png" Id="R252b7ec0c09f4b29" /><Relationship Type="http://schemas.openxmlformats.org/officeDocument/2006/relationships/notesSlide" Target="/ppt/notesSlides/notesSlide8.xml" Id="R794142a25df54bc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1c2470317548b3" /><Relationship Type="http://schemas.openxmlformats.org/officeDocument/2006/relationships/image" Target="/ppt/media/image8.png" Id="R4f4ef7d7e5044ba9" /><Relationship Type="http://schemas.openxmlformats.org/officeDocument/2006/relationships/notesSlide" Target="/ppt/notesSlides/notesSlide9.xml" Id="R3cdd1e08840f472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79f1012bf24ded" /><Relationship Type="http://schemas.openxmlformats.org/officeDocument/2006/relationships/image" Target="/ppt/media/image9.png" Id="R9c0b3d801dad4b17" /><Relationship Type="http://schemas.openxmlformats.org/officeDocument/2006/relationships/notesSlide" Target="/ppt/notesSlides/notesSlide10.xml" Id="R3f46b3243805498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ab64e22f0d4061" /><Relationship Type="http://schemas.openxmlformats.org/officeDocument/2006/relationships/image" Target="/ppt/media/image10.png" Id="R3192390d017945cb" /><Relationship Type="http://schemas.openxmlformats.org/officeDocument/2006/relationships/notesSlide" Target="/ppt/notesSlides/notesSlide11.xml" Id="R52b9401879604f6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2ed758455a43c6" /><Relationship Type="http://schemas.openxmlformats.org/officeDocument/2006/relationships/image" Target="/ppt/media/image11.png" Id="R927c24e91aa14c2c" /><Relationship Type="http://schemas.openxmlformats.org/officeDocument/2006/relationships/notesSlide" Target="/ppt/notesSlides/notesSlide12.xml" Id="R12368fa00ced4c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00299ae1a04787" /><Relationship Type="http://schemas.openxmlformats.org/officeDocument/2006/relationships/image" Target="/ppt/media/image12.png" Id="R4b60f09fc828419e" /><Relationship Type="http://schemas.openxmlformats.org/officeDocument/2006/relationships/notesSlide" Target="/ppt/notesSlides/notesSlide13.xml" Id="Re165fce5ab8e4d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a5405b31584c27" /><Relationship Type="http://schemas.openxmlformats.org/officeDocument/2006/relationships/image" Target="/ppt/media/image13.png" Id="Rda3069c2afbe47b5" /><Relationship Type="http://schemas.openxmlformats.org/officeDocument/2006/relationships/notesSlide" Target="/ppt/notesSlides/notesSlide14.xml" Id="R9696ff5b53734f4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11f4c7d214af6" /><Relationship Type="http://schemas.openxmlformats.org/officeDocument/2006/relationships/image" Target="/ppt/media/image14.png" Id="R4e57058c31314a87" /><Relationship Type="http://schemas.openxmlformats.org/officeDocument/2006/relationships/notesSlide" Target="/ppt/notesSlides/notesSlide15.xml" Id="Raca2cc4209d149b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be01e5e9014375" /><Relationship Type="http://schemas.openxmlformats.org/officeDocument/2006/relationships/image" Target="/ppt/media/image15.png" Id="Red8500b5b1c54ca6" /><Relationship Type="http://schemas.openxmlformats.org/officeDocument/2006/relationships/notesSlide" Target="/ppt/notesSlides/notesSlide16.xml" Id="R49b47c4db4754e1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69ab5fa13c422e" /><Relationship Type="http://schemas.openxmlformats.org/officeDocument/2006/relationships/image" Target="/ppt/media/image16.png" Id="Rf24f3b6548744a46" /><Relationship Type="http://schemas.openxmlformats.org/officeDocument/2006/relationships/notesSlide" Target="/ppt/notesSlides/notesSlide17.xml" Id="R136e8e6de5b54f2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e3698f7e014b2f" /><Relationship Type="http://schemas.openxmlformats.org/officeDocument/2006/relationships/notesSlide" Target="/ppt/notesSlides/notesSlide18.xml" Id="R39f90c3e33da46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2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3D63BF-1442-4D70-AABB-93984622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FINAL CAPSTONE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85874-934E-49A5-9D2A-97A67CD2F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45243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DevOps Revision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Tracker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26BA3-589D-4D6F-AB33-F5122D0C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86075"/>
            <a:ext cx="4095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D9E4DE"/>
                </a:solidFill>
                <a:latin typeface="Avenir Next"/>
                <a:ea typeface="Avenir Next"/>
                <a:cs typeface="Avenir Next"/>
              </a:rPr>
              <a:t>A production-style revision workspace delivered with CI/CD, Terraform, Kubernetes, monitoring, and GitOps.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313C27-FBFE-47BC-B6FF-420AD5E1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578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75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Presented by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D76D4C-03FB-4D4D-BEF9-E1B6890E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14975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MD Kaif Molla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2CD903-D453-42CE-8B6B-0EFBCA26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github.com/WhySeriousKaif/devops-heros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01DDED-0707-4131-8742-1E159DE232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b5eccfa97141a2"/>
          <a:stretch xmlns:a="http://schemas.openxmlformats.org/drawingml/2006/main"/>
        </p:blipFill>
        <p:spPr>
          <a:xfrm xmlns:a="http://schemas.openxmlformats.org/drawingml/2006/main">
            <a:off x="5276850" y="1344353"/>
            <a:ext cx="6191250" cy="4026418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CC6F8-9C69-4E92-97D0-BC176175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D9E4DE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EC089-8C2D-48DA-8C85-EC93E1FC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221940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1836ED-485F-444C-8C90-2E4C3805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What was built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0C2DC-8CA5-4E1E-80CE-EC45D497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One repository connects application delivery, cloud infrastructure, operational visibility, and GitOps.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C0536B-4134-4699-9273-F88636336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1108A-CEF5-4030-8CBC-4EFEE4B29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203DC6-552B-4BA6-8242-59E080CC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1F87B7-0574-4ACA-B83F-934C1FE2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4451C-D56B-4C8F-8800-893A96C1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811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React frontend, FastAPI backend, PostgreSQL, health and metrics endpoints.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94F88-B486-4E44-A573-582A2DD2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Delivery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36CA4-9C8E-4028-A6CE-B3752562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0982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Pytest, Gitleaks, Trivy, Docker build, GHCR publishing, and deployment verification.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B986FD-8859-43D5-B6B3-2C9BBC33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38500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Infrastructure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48B1A-B56E-410B-891A-9FB340F7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3850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Terraform provisions VPC networking, an EKS cluster, and managed worker nodes in Mumbai.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A0B056-DD57-497A-888F-C43EEF2C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67175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8C90C-66BC-4E73-A2B1-37A2B104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67175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Helm packages the workloads. Prometheus, Grafana, alert rules, and Kubernetes logs provide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87B8F-1DF1-404A-8F0C-B27009EC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2095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GitOps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E49F2A-3404-45B4-ADAC-106A48AD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95850"/>
            <a:ext cx="790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Argo CD continuously reconciles the Helm release from the Git repository.</a:t>
            </a:r>
          </a:p>
        </p:txBody>
      </p:sp>
    </p:spTree>
    <p:extLst>
      <p:ext uri="{BB962C8B-B14F-4D97-AF65-F5344CB8AC3E}">
        <p14:creationId xmlns:p14="http://schemas.microsoft.com/office/powerpoint/2010/main" val="77630728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881BB-7BF4-418B-B830-7B769ECB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Application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41EEB-649E-475E-9FE0-B0CBB40E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RevisionOS is a focused workspace for creating, prioritizing, and tracking revision topics.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D7EE0-E62D-4620-A250-83ADE8ED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6FC1E7-DFCE-4E4A-8C6C-B2AED05A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BB6C7-FADF-4E85-B6F9-64D5B844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88C90-8BBD-43B0-94D8-0CDA7488FB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cf57e444944fe8"/>
          <a:stretch xmlns:a="http://schemas.openxmlformats.org/drawingml/2006/main"/>
        </p:blipFill>
        <p:spPr>
          <a:xfrm xmlns:a="http://schemas.openxmlformats.org/drawingml/2006/main">
            <a:off x="2457265" y="1371600"/>
            <a:ext cx="727747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EC41B-D98B-4A18-BA92-BE1D7D6E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Live application dashboard served through the deployed frontend.</a:t>
            </a:r>
          </a:p>
        </p:txBody>
      </p:sp>
    </p:spTree>
    <p:extLst>
      <p:ext uri="{BB962C8B-B14F-4D97-AF65-F5344CB8AC3E}">
        <p14:creationId xmlns:p14="http://schemas.microsoft.com/office/powerpoint/2010/main" val="7731313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642BE-E8C8-4BF7-8C1C-81A209D3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API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6EC837-2648-4476-976F-99292C8B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FastAPI exposes documented CRUD operations together with health, readiness, and metrics endpoints.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C5BA37-0B7B-4F02-BD05-A00FC7F3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FDA0E-A5B7-4AA4-B307-1AE81EBB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9C4E5-CEB2-48F8-B930-3712AE1F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12EB4-413D-45AB-8906-7A6DB209F5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3ea72af2264790"/>
          <a:stretch xmlns:a="http://schemas.openxmlformats.org/drawingml/2006/main"/>
        </p:blipFill>
        <p:spPr>
          <a:xfrm xmlns:a="http://schemas.openxmlformats.org/drawingml/2006/main">
            <a:off x="2434454" y="1371600"/>
            <a:ext cx="7323091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F479BD-9975-460B-9A69-3A04EAC9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The Swagger interface provides a visible contract for every application endpoint.</a:t>
            </a:r>
          </a:p>
        </p:txBody>
      </p:sp>
    </p:spTree>
    <p:extLst>
      <p:ext uri="{BB962C8B-B14F-4D97-AF65-F5344CB8AC3E}">
        <p14:creationId xmlns:p14="http://schemas.microsoft.com/office/powerpoint/2010/main" val="9802837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3F0E9-2621-4862-A2FC-24574E90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Automated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E3224-F9E3-40F9-8527-BADF05A87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Core API behavior is verified before image creation and deployment.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55864-616C-4814-979F-D28EBEA8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2FC3C-D35A-47F4-B0E5-BE3815A8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DF707D-13B4-4A14-BA88-BF739C3E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4242D3-3391-4138-BE6B-1EBECBD3CC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31b546b0a48d8"/>
          <a:stretch xmlns:a="http://schemas.openxmlformats.org/drawingml/2006/main"/>
        </p:blipFill>
        <p:spPr>
          <a:xfrm xmlns:a="http://schemas.openxmlformats.org/drawingml/2006/main">
            <a:off x="2299430" y="1371600"/>
            <a:ext cx="759314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2A9A8D-9290-4B61-BEC1-3553069D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Nine automated tests passed successfully.</a:t>
            </a:r>
          </a:p>
        </p:txBody>
      </p:sp>
    </p:spTree>
    <p:extLst>
      <p:ext uri="{BB962C8B-B14F-4D97-AF65-F5344CB8AC3E}">
        <p14:creationId xmlns:p14="http://schemas.microsoft.com/office/powerpoint/2010/main" val="13798718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6DE3DD-F17D-4C52-A86D-048DAA7C0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CI/CD delivery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CEB1D4-7042-4CB0-9100-4F286EEB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A GitHub Actions push runs testing, secret scanning, container scanning, publishing, and deployment verification.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34B56-D4FC-4C54-9E0C-7558716A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36426-D96E-48B0-B208-F1E709E7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3BA43A-C5AF-4CC3-83B5-CC49E0C2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E256D-44EC-4B26-9BEE-A979DA2AB10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7ab688c294919"/>
          <a:stretch xmlns:a="http://schemas.openxmlformats.org/drawingml/2006/main"/>
        </p:blipFill>
        <p:spPr>
          <a:xfrm xmlns:a="http://schemas.openxmlformats.org/drawingml/2006/main">
            <a:off x="2600335" y="1371600"/>
            <a:ext cx="6991330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392C3E-05C2-479F-A099-45B7A5AF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The final capstone workflow completed successfully across all jobs.</a:t>
            </a:r>
          </a:p>
        </p:txBody>
      </p:sp>
    </p:spTree>
    <p:extLst>
      <p:ext uri="{BB962C8B-B14F-4D97-AF65-F5344CB8AC3E}">
        <p14:creationId xmlns:p14="http://schemas.microsoft.com/office/powerpoint/2010/main" val="80271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FED4A-F57B-4CE7-8B1B-CD3561BBF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Container security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24F145-0DE9-422C-AA98-67820EB3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Trivy checks the backend image before it is allowed to move through the delivery pipeline.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1EA1D-3899-4B59-9C01-7FED71C2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CBC41-C328-4D29-93BA-9BED854B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E89BD-E4E1-4335-8D37-4FCAFA98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DE0670-F21B-4BD3-8381-AE27C41140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4ce5bd45b64614"/>
          <a:stretch xmlns:a="http://schemas.openxmlformats.org/drawingml/2006/main"/>
        </p:blipFill>
        <p:spPr>
          <a:xfrm xmlns:a="http://schemas.openxmlformats.org/drawingml/2006/main">
            <a:off x="2558997" y="1371600"/>
            <a:ext cx="7074006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83A362-EE99-47FE-AA79-12B24F1E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Backend image scan reports zero detected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430769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D9D81-7AAD-462B-B62E-B4ECD9F8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Published container images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55675-00CC-489E-8481-14E4C793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Versioned backend and frontend artifacts are stored in GitHub Container Registry for deployment.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68C9A-F055-4C4E-9854-2F7BE81D9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8C543-68AC-4371-9F9B-2B9F634F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7489C-58E3-4796-8915-264C299C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E1E0E-3580-4D48-B272-8E667205B2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b7ec0c09f4b29"/>
          <a:stretch xmlns:a="http://schemas.openxmlformats.org/drawingml/2006/main"/>
        </p:blipFill>
        <p:spPr>
          <a:xfrm xmlns:a="http://schemas.openxmlformats.org/drawingml/2006/main">
            <a:off x="2434454" y="1371600"/>
            <a:ext cx="7323091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6E8DF-CC70-4577-AEE3-1E9EBD37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The backend image is published with the commit SHA tag used by deployment.</a:t>
            </a:r>
          </a:p>
        </p:txBody>
      </p:sp>
    </p:spTree>
    <p:extLst>
      <p:ext uri="{BB962C8B-B14F-4D97-AF65-F5344CB8AC3E}">
        <p14:creationId xmlns:p14="http://schemas.microsoft.com/office/powerpoint/2010/main" val="193340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77C41-6D45-4D6C-96F2-CBEEF585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Terraform 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6EF524-9AF0-41B4-89C1-9C3320C5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The infrastructure project defines the AWS provider, variables, VPC, EKS, security, and output values as code.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4FB4D-BB39-4EF9-A438-6A726088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D845F-EA6E-4734-B425-C1BA602F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7FDAC3-35FE-4CDF-80D2-EBCE65F1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6E8E61-95C3-4F29-ADF8-D9CE10EAF2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ef7d7e5044ba9"/>
          <a:stretch xmlns:a="http://schemas.openxmlformats.org/drawingml/2006/main"/>
        </p:blipFill>
        <p:spPr>
          <a:xfrm xmlns:a="http://schemas.openxmlformats.org/drawingml/2006/main">
            <a:off x="1984349" y="1371600"/>
            <a:ext cx="8223302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DF11F-062C-4E9E-9E5B-2BD2FFB34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Terraform initialization and validation completed successfully.</a:t>
            </a:r>
          </a:p>
        </p:txBody>
      </p:sp>
    </p:spTree>
    <p:extLst>
      <p:ext uri="{BB962C8B-B14F-4D97-AF65-F5344CB8AC3E}">
        <p14:creationId xmlns:p14="http://schemas.microsoft.com/office/powerpoint/2010/main" val="6311793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B3D8C9-621E-43A1-AC34-567D1249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AWS VPC infrastructure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EACCED-7283-4288-9241-546A6060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Terraform provisioned a dedicated VPC for the capstone workload in ap-south-1.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823C4A-853E-41EE-B50D-8019193AA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5A804-4391-4CF3-B4AC-0839C4E1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A8B034-897E-4EB4-A996-E64B8039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76E1E-5D48-4337-8699-7E3F7B0064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b3d801dad4b17"/>
          <a:stretch xmlns:a="http://schemas.openxmlformats.org/drawingml/2006/main"/>
        </p:blipFill>
        <p:spPr>
          <a:xfrm xmlns:a="http://schemas.openxmlformats.org/drawingml/2006/main">
            <a:off x="2312458" y="1371600"/>
            <a:ext cx="7567083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812433-B44E-447C-AA0A-AB4285E7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The revision-tracker-vpc is available in the AWS Console.</a:t>
            </a:r>
          </a:p>
        </p:txBody>
      </p:sp>
    </p:spTree>
    <p:extLst>
      <p:ext uri="{BB962C8B-B14F-4D97-AF65-F5344CB8AC3E}">
        <p14:creationId xmlns:p14="http://schemas.microsoft.com/office/powerpoint/2010/main" val="17989049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C03805-1347-4F0C-A259-1843FB78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EKS cluster and worker nodes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9ED610-3D90-4E30-BD2B-F3BE2DAD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The managed Kubernetes control plane and node group are active and ready to run the Helm release.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B94420-2080-49EE-9646-3D031B6B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A0504-4E80-46E1-8A64-A35B251F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8664BA-B5B3-430B-BB7B-90F0ED35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11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E6318-4B02-4598-97D5-ADA213F8B2E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2390d017945cb"/>
          <a:stretch xmlns:a="http://schemas.openxmlformats.org/drawingml/2006/main"/>
        </p:blipFill>
        <p:spPr>
          <a:xfrm xmlns:a="http://schemas.openxmlformats.org/drawingml/2006/main">
            <a:off x="2434454" y="1371600"/>
            <a:ext cx="7323091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6E98B-8113-4CFB-95CF-8755EC31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revision-tracker-eks is Active in the AWS Console.</a:t>
            </a:r>
          </a:p>
        </p:txBody>
      </p:sp>
    </p:spTree>
    <p:extLst>
      <p:ext uri="{BB962C8B-B14F-4D97-AF65-F5344CB8AC3E}">
        <p14:creationId xmlns:p14="http://schemas.microsoft.com/office/powerpoint/2010/main" val="12868147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4AB362-D236-43ED-BE50-97123502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Kubernetes workload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C459F-5921-4BD9-85DF-47CBD69D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Frontend, backend, and PostgreSQL workloads run as healthy pods in the revision-tracker namespace.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3A9A2-BA87-4E55-822E-B0BC1A3F5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4DF60-330B-4112-B3BD-793FF38D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A1685-9FD3-4044-AAFB-4E7D8F8B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12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EBD08F-91AE-4044-B990-40C0AFABDC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c24e91aa14c2c"/>
          <a:stretch xmlns:a="http://schemas.openxmlformats.org/drawingml/2006/main"/>
        </p:blipFill>
        <p:spPr>
          <a:xfrm xmlns:a="http://schemas.openxmlformats.org/drawingml/2006/main">
            <a:off x="685800" y="2740738"/>
            <a:ext cx="10820400" cy="2024224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449C2-8868-4F13-8512-86C15F1A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All five application pods are Running and Ready.</a:t>
            </a:r>
          </a:p>
        </p:txBody>
      </p:sp>
    </p:spTree>
    <p:extLst>
      <p:ext uri="{BB962C8B-B14F-4D97-AF65-F5344CB8AC3E}">
        <p14:creationId xmlns:p14="http://schemas.microsoft.com/office/powerpoint/2010/main" val="19273757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50D71E-674B-4695-BF96-9A8B65BF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Ingress, services, autoscaling, and Helm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2B0955-194A-4770-9C7C-51BD7D67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The EKS deployment exposes the app through ingress while Helm tracks the installed release and HPA configuration.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7410E-1271-418E-AD2D-831CC172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D0F34-876B-4962-9220-E06800DA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AB3B1-0314-4CA5-AD33-E42B03BB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13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CA4466-C599-49A9-811D-6DB848B6D4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0f09fc828419e"/>
          <a:stretch xmlns:a="http://schemas.openxmlformats.org/drawingml/2006/main"/>
        </p:blipFill>
        <p:spPr>
          <a:xfrm xmlns:a="http://schemas.openxmlformats.org/drawingml/2006/main">
            <a:off x="685800" y="2644988"/>
            <a:ext cx="10820400" cy="221572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98CF5-A445-4D60-B8C3-D0196E71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The ingress address, services, HPA, and Helm release are all present.</a:t>
            </a:r>
          </a:p>
        </p:txBody>
      </p:sp>
    </p:spTree>
    <p:extLst>
      <p:ext uri="{BB962C8B-B14F-4D97-AF65-F5344CB8AC3E}">
        <p14:creationId xmlns:p14="http://schemas.microsoft.com/office/powerpoint/2010/main" val="1419725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8E28C-6621-4024-A842-9879EF87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Prometheus target health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AA2C5-0B12-44FF-AAB0-2BFF2602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Prometheus discovers and scrapes both backend replicas through the ServiceMonitor.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2D1C6-2A43-48E1-90A0-469232C5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D7FC6-F916-46A4-842C-1897FA354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C5211-B8DA-4BE9-BD6F-3297F6C3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14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C14521-2469-4081-86C2-8F0AC0AC03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069c2afbe47b5"/>
          <a:stretch xmlns:a="http://schemas.openxmlformats.org/drawingml/2006/main"/>
        </p:blipFill>
        <p:spPr>
          <a:xfrm xmlns:a="http://schemas.openxmlformats.org/drawingml/2006/main">
            <a:off x="2434454" y="1371600"/>
            <a:ext cx="7323091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09E6E-1670-471D-8868-149FFF68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Both backend endpoints are UP.</a:t>
            </a:r>
          </a:p>
        </p:txBody>
      </p:sp>
    </p:spTree>
    <p:extLst>
      <p:ext uri="{BB962C8B-B14F-4D97-AF65-F5344CB8AC3E}">
        <p14:creationId xmlns:p14="http://schemas.microsoft.com/office/powerpoint/2010/main" val="4242431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6758B-A716-40B8-9716-372A02E2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Grafana operational dashboard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D1DDA-C642-4ACF-B0E1-CA888338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Grafana turns Prometheus metrics into live application target, request rate, CPU, memory, latency, and response views.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2E3E9-5A47-44D3-8CA2-416F1397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6BBDF-5D04-47D5-8509-F24F183F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44184-7FF5-446C-9FB9-6D651920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15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8E18C9-F619-4209-A60C-B8B1F62EC4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7058c31314a87"/>
          <a:stretch xmlns:a="http://schemas.openxmlformats.org/drawingml/2006/main"/>
        </p:blipFill>
        <p:spPr>
          <a:xfrm xmlns:a="http://schemas.openxmlformats.org/drawingml/2006/main">
            <a:off x="2434454" y="1371600"/>
            <a:ext cx="7323091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BA986-1525-4E68-B955-767FDD85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The dashboard shows two application targets and live service telemetry.</a:t>
            </a:r>
          </a:p>
        </p:txBody>
      </p:sp>
    </p:spTree>
    <p:extLst>
      <p:ext uri="{BB962C8B-B14F-4D97-AF65-F5344CB8AC3E}">
        <p14:creationId xmlns:p14="http://schemas.microsoft.com/office/powerpoint/2010/main" val="18195589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83F040-982F-43E5-8B2C-ABC0A18C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Alert rules and runtime logs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59BA2B-256E-46B7-950E-C65E5D8BE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Prometheus alert rules provide proactive availability and memory signals. Kubernetes logs provide request-level evidence.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10E20-8F38-44C8-98C5-C33D1163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D8B9D-80D0-4393-92A2-77430539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F7CBF3-22D5-4831-9421-87DA86AC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16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6B153-C475-4A62-A589-10DCC06B03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500b5b1c54ca6"/>
          <a:stretch xmlns:a="http://schemas.openxmlformats.org/drawingml/2006/main"/>
        </p:blipFill>
        <p:spPr>
          <a:xfrm xmlns:a="http://schemas.openxmlformats.org/drawingml/2006/main">
            <a:off x="2434454" y="1371600"/>
            <a:ext cx="7323091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F82B8-EBFC-40C4-B6A7-501E19B1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Custom backend-down and high-memory alert rules are installed and inactive while the app is healthy.</a:t>
            </a:r>
          </a:p>
        </p:txBody>
      </p:sp>
    </p:spTree>
    <p:extLst>
      <p:ext uri="{BB962C8B-B14F-4D97-AF65-F5344CB8AC3E}">
        <p14:creationId xmlns:p14="http://schemas.microsoft.com/office/powerpoint/2010/main" val="124533850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1CA86-D42A-4327-8733-12F1ADA1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"/>
            <a:ext cx="108108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31D"/>
                </a:solidFill>
                <a:latin typeface="Avenir Next"/>
                <a:ea typeface="Avenir Next"/>
                <a:cs typeface="Avenir Next"/>
              </a:rPr>
              <a:t>GitOps reconciliation with Argo CD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868B9-D3B0-4549-93FF-DECFB3C0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0575"/>
            <a:ext cx="1076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Argo CD watches the Helm chart in Git and maintains the deployed application in a Healthy and Synced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C884F-1800-4CDD-BE81-A71A3717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1010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F45E"/>
          </a:solidFill>
          <a:ln xmlns:a="http://schemas.openxmlformats.org/drawingml/2006/main" w="0">
            <a:solidFill>
              <a:srgbClr val="C6F4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FD9A82-25D3-47FD-B455-86F5D0B5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5B6B65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15D86D-F087-44D0-83EC-1A414BE7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17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399AD-1D26-41C4-817C-49593E1E34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f3b6548744a46"/>
          <a:stretch xmlns:a="http://schemas.openxmlformats.org/drawingml/2006/main"/>
        </p:blipFill>
        <p:spPr>
          <a:xfrm xmlns:a="http://schemas.openxmlformats.org/drawingml/2006/main">
            <a:off x="2434454" y="1371600"/>
            <a:ext cx="7323091" cy="4762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7E1A3-68F6-4BBA-AB1E-79284E6A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2C8060"/>
                </a:solidFill>
                <a:latin typeface="Avenir Next"/>
                <a:ea typeface="Avenir Next"/>
                <a:cs typeface="Avenir Next"/>
              </a:rPr>
              <a:t>The GitOps application is Healthy and Synced in the revision-tracker namespace.</a:t>
            </a:r>
          </a:p>
        </p:txBody>
      </p:sp>
    </p:spTree>
    <p:extLst>
      <p:ext uri="{BB962C8B-B14F-4D97-AF65-F5344CB8AC3E}">
        <p14:creationId xmlns:p14="http://schemas.microsoft.com/office/powerpoint/2010/main" val="175406669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F2B2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1F249-48C6-436F-81A9-FBF852D3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Verified outcomes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B71CA8-0D82-4836-8D20-F68F668F3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00150"/>
            <a:ext cx="9096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D9E4DE"/>
                </a:solidFill>
                <a:latin typeface="Avenir Next"/>
                <a:ea typeface="Avenir Next"/>
                <a:cs typeface="Avenir Next"/>
              </a:rPr>
              <a:t>The project demonstrates a complete DevSecOps lifecycle with evidence from source code to a running cloud workload.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7A377-5695-4ABE-8634-7C89F836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19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9 tests passed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37BF5-3303-4A42-8BC6-7A9FDDCAE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228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rPr>
              <a:t>Application behavior was verified before build and deployment.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61AFB-E8B3-4C99-B46E-9365CF6C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86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Security gates passed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0DE64-B226-4A82-99CE-D065D524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rPr>
              <a:t>Gitleaks and Trivy were part of the successful GitHub Actions workflow.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32E331-3DBC-4E5A-AEB2-A4836A4A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EKS workload healthy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7B25E-CC0E-4878-B1D7-75E07B0C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623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rPr>
              <a:t>Five application pods, ingress, services, autoscaling, and Helm release were verified.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21828-BEF4-43D1-9366-A4D9BE43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95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2 targets scraped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E5F4F-81E0-4A19-B558-0821A5EDB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2291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rPr>
              <a:t>Prometheus reports both backend replicas as UP and Grafana displays live telemetry.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7A65A-63FE-4992-9709-1CA0286D7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863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Healthy and Synced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040EC-E670-4168-85AC-AFDFB9CD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895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>
                <a:solidFill>
                  <a:srgbClr val="D9E4DE"/>
                </a:solidFill>
                <a:latin typeface="Avenir Next"/>
                <a:ea typeface="Avenir Next"/>
                <a:cs typeface="Avenir Next"/>
              </a:rPr>
              <a:t>Argo CD reconciles the desired Helm state directly from Git.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8D57D8-A56B-427A-BC01-CB6D83BA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7692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Thank you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8FD77-EEE0-423D-BB48-A9678D9C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9055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MD Kaif Molla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19645-6AE5-49D1-AAA8-5FA38597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151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82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825" b="0">
                <a:solidFill>
                  <a:srgbClr val="D9E4DE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D9E4DE"/>
                </a:solidFill>
                <a:latin typeface="Avenir Next"/>
                <a:ea typeface="Avenir Next"/>
                <a:cs typeface="Avenir Next"/>
              </a:rPr>
              <a:t>MD Kaif Molla  |  DevOps Revision Tracker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4535F-66D8-43A9-821F-B9B29FA0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900" b="1">
                <a:solidFill>
                  <a:srgbClr val="C6F45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C6F45E"/>
                </a:solidFill>
                <a:latin typeface="Avenir Next"/>
                <a:ea typeface="Avenir Next"/>
                <a:cs typeface="Avenir Next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63732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2026-10-09T11:44:29.4980000Z</dcterms:created>
  <dcterms:modified xsi:type="dcterms:W3CDTF">2026-10-09T11:44:29.4980000Z</dcterms:modified>
</coreProperties>
</file>